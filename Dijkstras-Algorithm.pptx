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Azeret Mono" panose="020B0604020202020204" charset="0"/>
      <p:regular r:id="rId13"/>
    </p:embeddedFont>
    <p:embeddedFont>
      <p:font typeface="Azeret Mono Medium" panose="020B0604020202020204" charset="0"/>
      <p:regular r:id="rId14"/>
    </p:embeddedFont>
    <p:embeddedFont>
      <p:font typeface="Bahnschrift" panose="020B0502040204020203" pitchFamily="34" charset="0"/>
      <p:regular r:id="rId15"/>
      <p:bold r:id="rId16"/>
    </p:embeddedFont>
    <p:embeddedFont>
      <p:font typeface="Calisto MT" panose="02040603050505030304" pitchFamily="18" charset="0"/>
      <p:regular r:id="rId17"/>
      <p:bold r:id="rId18"/>
      <p:italic r:id="rId19"/>
      <p:boldItalic r:id="rId20"/>
    </p:embeddedFont>
    <p:embeddedFont>
      <p:font typeface="Cambria Math" panose="02040503050406030204" pitchFamily="18" charset="0"/>
      <p:regular r:id="rId21"/>
    </p:embeddedFont>
    <p:embeddedFont>
      <p:font typeface="Cascadia Code SemiLight" panose="020B0609020000020004" pitchFamily="49" charset="0"/>
      <p:regular r:id="rId22"/>
      <p:italic r:id="rId23"/>
    </p:embeddedFont>
    <p:embeddedFont>
      <p:font typeface="Krona One" panose="020B0604020202020204" charset="0"/>
      <p:regular r:id="rId24"/>
    </p:embeddedFont>
    <p:embeddedFont>
      <p:font typeface="Lexend" panose="020B0604020202020204" charset="0"/>
      <p:regular r:id="rId25"/>
    </p:embeddedFont>
    <p:embeddedFont>
      <p:font typeface="Lexend SemiBold" panose="020B0604020202020204" charset="0"/>
      <p:regular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D92"/>
    <a:srgbClr val="5CC98B"/>
    <a:srgbClr val="F39A4B"/>
    <a:srgbClr val="18196B"/>
    <a:srgbClr val="0E1150"/>
    <a:srgbClr val="FFC000"/>
    <a:srgbClr val="D9DCF3"/>
    <a:srgbClr val="F4C45A"/>
    <a:srgbClr val="8F95D3"/>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1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5043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will find a shortest route through a small city network. The main idea is simple: at every stage, choose the smallest known distance and use it to improve the remaining routes.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same six locations throughout the example. The green node is our source, College, and the red node is our destination, Airport. The numbers are distances in kilometres, so each complete route has a total cost.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applying the algorithm, we convert the city into a graph. Locations become vertices, roads become edges, and distances become weights. Dijkstra repeatedly explores this weighted graph by selecting the smallest temporary distance.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a distance table. College is the source, so its distance is zero. Every other location is unknown, represented by infinity. These values are temporary until the algorithm discovers better routes.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College we can reach Library in four kilometres or Mall in two. Dijkstra chooses Mall because two is smaller. From Mall, the route to Library becomes two plus one, which is three. That improves Library’s temporary value from four to three.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Library is now the closest unvisited vertex, at three kilometres. We inspect its neighbours. Hospital gets a possible distance of eight, and Railway Station gets thirteen. The smallest unvisited value is Hospital at eight, so that becomes our next choice.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Hospital, we test the route to Railway Station. The old temporary value was thirteen. Going through Hospital costs eight plus two, or ten, so we replace thirteen with ten. The green route shows the path discovered so far.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Railway Station connects to Airport with three more kilometres. Ten plus three gives thirteen. The complete shortest path is now visible, while the unused roads fade into the background.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algorithm in seven actions. Set the source to zero, set all other distances to infinity, then repeatedly select the smallest unvisited vertex and update its neighbours. The greedy choice is safe here because the edge weights are non-negative. For negative weights, we need Bellman–Ford.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 array implementation takes O(V²). With a priority queue or min-heap, the complexity becomes O((V + E) log V). Now try a separate five-node graph from A to E. Count down, choose the smallest temporary distance at each stage, and reveal the shortest path: A to B to D to E, with total cost eight.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A0C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1695" cy="6858000"/>
          </a:xfrm>
          <a:prstGeom prst="rect">
            <a:avLst/>
          </a:prstGeom>
        </p:spPr>
      </p:pic>
      <p:pic>
        <p:nvPicPr>
          <p:cNvPr id="4"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A0C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A0C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A0C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0A0C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787400"/>
            <a:ext cx="6603835" cy="4953000"/>
          </a:xfrm>
          <a:prstGeom prst="roundRect">
            <a:avLst>
              <a:gd name="adj" fmla="val 3077"/>
            </a:avLst>
          </a:prstGeom>
          <a:noFill/>
          <a:ln w="6350">
            <a:solidFill>
              <a:srgbClr val="B7BCEB">
                <a:alpha val="42000"/>
              </a:srgbClr>
            </a:solidFill>
            <a:prstDash val="solid"/>
          </a:ln>
          <a:effectLst>
            <a:outerShdw blurRad="278130" dist="127" dir="16200000" algn="bl" rotWithShape="0">
              <a:srgbClr val="B7BCEB">
                <a:alpha val="20000"/>
              </a:srgbClr>
            </a:outerShdw>
          </a:effectLst>
        </p:spPr>
      </p:sp>
      <p:sp>
        <p:nvSpPr>
          <p:cNvPr id="3" name="Shape 1"/>
          <p:cNvSpPr/>
          <p:nvPr/>
        </p:nvSpPr>
        <p:spPr>
          <a:xfrm>
            <a:off x="615935" y="793750"/>
            <a:ext cx="6591135" cy="4940300"/>
          </a:xfrm>
          <a:prstGeom prst="roundRect">
            <a:avLst>
              <a:gd name="adj" fmla="val 3085"/>
            </a:avLst>
          </a:prstGeom>
          <a:solidFill>
            <a:srgbClr val="262D92">
              <a:alpha val="88000"/>
            </a:srgbClr>
          </a:solidFill>
          <a:ln/>
        </p:spPr>
      </p:sp>
      <p:sp>
        <p:nvSpPr>
          <p:cNvPr id="4" name="Text 2"/>
          <p:cNvSpPr/>
          <p:nvPr/>
        </p:nvSpPr>
        <p:spPr>
          <a:xfrm>
            <a:off x="1055648" y="1042690"/>
            <a:ext cx="6438739"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F4C45A"/>
                </a:solidFill>
                <a:latin typeface="Azeret Mono Medium" pitchFamily="34" charset="0"/>
                <a:ea typeface="Azeret Mono Medium" pitchFamily="34" charset="-122"/>
                <a:cs typeface="Azeret Mono Medium" pitchFamily="34" charset="-120"/>
              </a:rPr>
              <a:t>DESIGN AND ANALYSIS OF ALGORITHMS</a:t>
            </a:r>
            <a:endParaRPr lang="en-US" sz="1400" dirty="0"/>
          </a:p>
        </p:txBody>
      </p:sp>
      <p:sp>
        <p:nvSpPr>
          <p:cNvPr id="5" name="Text 3"/>
          <p:cNvSpPr/>
          <p:nvPr/>
        </p:nvSpPr>
        <p:spPr>
          <a:xfrm>
            <a:off x="996925" y="1637226"/>
            <a:ext cx="5829154" cy="1657945"/>
          </a:xfrm>
          <a:prstGeom prst="rect">
            <a:avLst/>
          </a:prstGeom>
          <a:noFill/>
          <a:ln/>
        </p:spPr>
        <p:txBody>
          <a:bodyPr wrap="square" lIns="0" tIns="0" rIns="0" bIns="0" rtlCol="0" anchor="t">
            <a:normAutofit lnSpcReduction="10000"/>
          </a:bodyPr>
          <a:lstStyle/>
          <a:p>
            <a:pPr marL="0" indent="0" algn="l">
              <a:lnSpc>
                <a:spcPct val="85000"/>
              </a:lnSpc>
              <a:buNone/>
            </a:pPr>
            <a:r>
              <a:rPr lang="en-US" sz="6400" kern="100" spc="-64" dirty="0">
                <a:solidFill>
                  <a:srgbClr val="EEF0FF"/>
                </a:solidFill>
                <a:latin typeface="Krona One" pitchFamily="34" charset="0"/>
                <a:ea typeface="Krona One" pitchFamily="34" charset="-122"/>
                <a:cs typeface="Krona One" pitchFamily="34" charset="-120"/>
              </a:rPr>
              <a:t>Dijkstra’s</a:t>
            </a:r>
            <a:endParaRPr lang="en-US" sz="6400" dirty="0"/>
          </a:p>
          <a:p>
            <a:pPr marL="0" indent="0" algn="l">
              <a:lnSpc>
                <a:spcPct val="85000"/>
              </a:lnSpc>
              <a:buNone/>
            </a:pPr>
            <a:r>
              <a:rPr lang="en-US" sz="6400" kern="100" spc="-64" dirty="0">
                <a:solidFill>
                  <a:srgbClr val="EEF0FF"/>
                </a:solidFill>
                <a:latin typeface="Krona One" pitchFamily="34" charset="0"/>
                <a:ea typeface="Krona One" pitchFamily="34" charset="-122"/>
                <a:cs typeface="Krona One" pitchFamily="34" charset="-120"/>
              </a:rPr>
              <a:t>Algorithm</a:t>
            </a:r>
            <a:endParaRPr lang="en-US" sz="6400" dirty="0"/>
          </a:p>
        </p:txBody>
      </p:sp>
      <p:sp>
        <p:nvSpPr>
          <p:cNvPr id="6" name="Shape 4"/>
          <p:cNvSpPr/>
          <p:nvPr/>
        </p:nvSpPr>
        <p:spPr>
          <a:xfrm>
            <a:off x="996925" y="3471180"/>
            <a:ext cx="5546488" cy="45719"/>
          </a:xfrm>
          <a:prstGeom prst="roundRect">
            <a:avLst>
              <a:gd name="adj" fmla="val 49998"/>
            </a:avLst>
          </a:prstGeom>
          <a:solidFill>
            <a:srgbClr val="5B62C6"/>
          </a:solidFill>
          <a:ln/>
        </p:spPr>
      </p:sp>
      <p:sp>
        <p:nvSpPr>
          <p:cNvPr id="7" name="Text 5"/>
          <p:cNvSpPr/>
          <p:nvPr/>
        </p:nvSpPr>
        <p:spPr>
          <a:xfrm>
            <a:off x="996925" y="3868916"/>
            <a:ext cx="5829154" cy="726281"/>
          </a:xfrm>
          <a:prstGeom prst="rect">
            <a:avLst/>
          </a:prstGeom>
          <a:noFill/>
          <a:ln/>
        </p:spPr>
        <p:txBody>
          <a:bodyPr wrap="square" lIns="0" tIns="0" rIns="0" bIns="0" rtlCol="0" anchor="t">
            <a:normAutofit/>
          </a:bodyPr>
          <a:lstStyle/>
          <a:p>
            <a:pPr marL="0" indent="0" algn="l">
              <a:lnSpc>
                <a:spcPct val="108000"/>
              </a:lnSpc>
              <a:buNone/>
            </a:pPr>
            <a:r>
              <a:rPr lang="en-US" sz="2200" dirty="0">
                <a:solidFill>
                  <a:srgbClr val="EEF0FF"/>
                </a:solidFill>
                <a:latin typeface="Lexend" pitchFamily="34" charset="0"/>
                <a:ea typeface="Lexend" pitchFamily="34" charset="-122"/>
                <a:cs typeface="Lexend" pitchFamily="34" charset="-120"/>
              </a:rPr>
              <a:t>Find the shortest path — one smart choice at a time.</a:t>
            </a:r>
            <a:endParaRPr lang="en-US" sz="2200" dirty="0"/>
          </a:p>
        </p:txBody>
      </p:sp>
      <p:sp>
        <p:nvSpPr>
          <p:cNvPr id="8" name="Text 6"/>
          <p:cNvSpPr/>
          <p:nvPr/>
        </p:nvSpPr>
        <p:spPr>
          <a:xfrm>
            <a:off x="996925" y="4778395"/>
            <a:ext cx="6438739"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B7BCEB"/>
                </a:solidFill>
                <a:latin typeface="Azeret Mono" pitchFamily="34" charset="0"/>
                <a:ea typeface="Azeret Mono" pitchFamily="34" charset="-122"/>
                <a:cs typeface="Azeret Mono" pitchFamily="34" charset="-120"/>
              </a:rPr>
              <a:t>DAA · shortest paths · greedy strategy</a:t>
            </a:r>
            <a:endParaRPr lang="en-US" sz="1300" dirty="0"/>
          </a:p>
        </p:txBody>
      </p:sp>
      <p:pic>
        <p:nvPicPr>
          <p:cNvPr id="9" name="Image 0" descr="preencoded.png"/>
          <p:cNvPicPr>
            <a:picLocks noChangeAspect="1"/>
          </p:cNvPicPr>
          <p:nvPr/>
        </p:nvPicPr>
        <p:blipFill>
          <a:blip r:embed="rId3"/>
          <a:stretch>
            <a:fillRect/>
          </a:stretch>
        </p:blipFill>
        <p:spPr>
          <a:xfrm>
            <a:off x="0" y="0"/>
            <a:ext cx="12191695" cy="591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82588" y="330517"/>
            <a:ext cx="11226519" cy="370284"/>
          </a:xfrm>
          <a:prstGeom prst="rect">
            <a:avLst/>
          </a:prstGeom>
          <a:noFill/>
          <a:ln/>
        </p:spPr>
        <p:txBody>
          <a:bodyPr wrap="none" lIns="0" tIns="0" rIns="0" bIns="0" rtlCol="0" anchor="t"/>
          <a:lstStyle/>
          <a:p>
            <a:pPr marL="0" indent="0" algn="l">
              <a:lnSpc>
                <a:spcPct val="90000"/>
              </a:lnSpc>
              <a:buNone/>
            </a:pPr>
            <a:r>
              <a:rPr lang="en-US" sz="2700" kern="100" spc="-27" dirty="0">
                <a:solidFill>
                  <a:srgbClr val="F4C45A"/>
                </a:solidFill>
                <a:latin typeface="Krona One" pitchFamily="34" charset="0"/>
                <a:ea typeface="Krona One" pitchFamily="34" charset="-122"/>
                <a:cs typeface="Krona One" pitchFamily="34" charset="-120"/>
              </a:rPr>
              <a:t>Which route is the shortest?</a:t>
            </a:r>
            <a:endParaRPr lang="en-US" sz="2700" dirty="0"/>
          </a:p>
        </p:txBody>
      </p:sp>
      <p:sp>
        <p:nvSpPr>
          <p:cNvPr id="3" name="Text 1"/>
          <p:cNvSpPr/>
          <p:nvPr/>
        </p:nvSpPr>
        <p:spPr>
          <a:xfrm>
            <a:off x="482588" y="895302"/>
            <a:ext cx="11709107" cy="306487"/>
          </a:xfrm>
          <a:prstGeom prst="rect">
            <a:avLst/>
          </a:prstGeom>
          <a:noFill/>
          <a:ln/>
        </p:spPr>
        <p:txBody>
          <a:bodyPr wrap="none" lIns="0" tIns="0" rIns="0" bIns="0" rtlCol="0" anchor="t"/>
          <a:lstStyle/>
          <a:p>
            <a:pPr marL="0" indent="0" algn="l">
              <a:lnSpc>
                <a:spcPct val="118000"/>
              </a:lnSpc>
              <a:buNone/>
            </a:pPr>
            <a:r>
              <a:rPr lang="en-US" sz="1700" dirty="0">
                <a:solidFill>
                  <a:srgbClr val="EEF0FF"/>
                </a:solidFill>
                <a:latin typeface="Lexend" pitchFamily="34" charset="0"/>
                <a:ea typeface="Lexend" pitchFamily="34" charset="-122"/>
                <a:cs typeface="Lexend" pitchFamily="34" charset="-120"/>
              </a:rPr>
              <a:t>Start at College. Reach the Airport. Multiple roads, different distances, one shortest route.</a:t>
            </a:r>
            <a:endParaRPr lang="en-US" sz="1700" dirty="0"/>
          </a:p>
        </p:txBody>
      </p:sp>
      <p:sp>
        <p:nvSpPr>
          <p:cNvPr id="4" name="Shape 2"/>
          <p:cNvSpPr/>
          <p:nvPr/>
        </p:nvSpPr>
        <p:spPr>
          <a:xfrm>
            <a:off x="482588" y="1391146"/>
            <a:ext cx="6553036" cy="4422874"/>
          </a:xfrm>
          <a:prstGeom prst="rect">
            <a:avLst/>
          </a:prstGeom>
          <a:solidFill>
            <a:srgbClr val="262D92"/>
          </a:solidFill>
          <a:ln/>
          <a:effectLst>
            <a:outerShdw blurRad="278130" dist="127" dir="16200000" algn="bl" rotWithShape="0">
              <a:srgbClr val="B7BCEB">
                <a:alpha val="20000"/>
              </a:srgbClr>
            </a:outerShdw>
          </a:effectLst>
        </p:spPr>
      </p:sp>
      <p:pic>
        <p:nvPicPr>
          <p:cNvPr id="5" name="Image 0" descr="preencoded.png"/>
          <p:cNvPicPr>
            <a:picLocks noChangeAspect="1"/>
          </p:cNvPicPr>
          <p:nvPr/>
        </p:nvPicPr>
        <p:blipFill>
          <a:blip r:embed="rId3"/>
          <a:stretch>
            <a:fillRect/>
          </a:stretch>
        </p:blipFill>
        <p:spPr>
          <a:xfrm>
            <a:off x="681466" y="1614499"/>
            <a:ext cx="6095848" cy="2857500"/>
          </a:xfrm>
          <a:prstGeom prst="rect">
            <a:avLst/>
          </a:prstGeom>
        </p:spPr>
      </p:pic>
      <p:sp>
        <p:nvSpPr>
          <p:cNvPr id="6" name="Shape 3"/>
          <p:cNvSpPr/>
          <p:nvPr/>
        </p:nvSpPr>
        <p:spPr>
          <a:xfrm>
            <a:off x="7340317" y="1292963"/>
            <a:ext cx="4368790" cy="4422874"/>
          </a:xfrm>
          <a:prstGeom prst="rect">
            <a:avLst/>
          </a:prstGeom>
          <a:solidFill>
            <a:srgbClr val="262D92"/>
          </a:solidFill>
          <a:ln/>
          <a:effectLst>
            <a:outerShdw blurRad="278130" dist="127" dir="16200000" algn="bl" rotWithShape="0">
              <a:srgbClr val="B7BCEB">
                <a:alpha val="20000"/>
              </a:srgbClr>
            </a:outerShdw>
          </a:effectLst>
        </p:spPr>
      </p:sp>
      <p:sp>
        <p:nvSpPr>
          <p:cNvPr id="7" name="Text 4"/>
          <p:cNvSpPr/>
          <p:nvPr/>
        </p:nvSpPr>
        <p:spPr>
          <a:xfrm>
            <a:off x="7568910" y="1452137"/>
            <a:ext cx="4140196" cy="213320"/>
          </a:xfrm>
          <a:prstGeom prst="rect">
            <a:avLst/>
          </a:prstGeom>
          <a:noFill/>
          <a:ln/>
        </p:spPr>
        <p:txBody>
          <a:bodyPr wrap="none" lIns="0" tIns="0" rIns="0" bIns="0" rtlCol="0" anchor="t"/>
          <a:lstStyle/>
          <a:p>
            <a:pPr marL="0" indent="0" algn="l">
              <a:lnSpc>
                <a:spcPct val="100000"/>
              </a:lnSpc>
              <a:buNone/>
            </a:pPr>
            <a:r>
              <a:rPr lang="en-US" kern="100" spc="42" dirty="0">
                <a:solidFill>
                  <a:srgbClr val="EEF0FF"/>
                </a:solidFill>
                <a:latin typeface="Azeret Mono Medium" pitchFamily="34" charset="0"/>
                <a:ea typeface="Azeret Mono Medium" pitchFamily="34" charset="-122"/>
                <a:cs typeface="Azeret Mono Medium" pitchFamily="34" charset="-120"/>
              </a:rPr>
              <a:t>ROAD DISTANCES · KM</a:t>
            </a:r>
            <a:endParaRPr lang="en-US" dirty="0"/>
          </a:p>
        </p:txBody>
      </p:sp>
      <p:sp>
        <p:nvSpPr>
          <p:cNvPr id="8" name="Text 5"/>
          <p:cNvSpPr/>
          <p:nvPr/>
        </p:nvSpPr>
        <p:spPr>
          <a:xfrm>
            <a:off x="7568910" y="1960066"/>
            <a:ext cx="3890451" cy="1202832"/>
          </a:xfrm>
          <a:prstGeom prst="rect">
            <a:avLst/>
          </a:prstGeom>
          <a:noFill/>
          <a:ln/>
        </p:spPr>
        <p:txBody>
          <a:bodyPr wrap="square" lIns="0" tIns="0" rIns="0" bIns="0" rtlCol="0" anchor="t">
            <a:noAutofit/>
          </a:bodyPr>
          <a:lstStyle/>
          <a:p>
            <a:pPr marL="285750" indent="-285750" algn="l">
              <a:lnSpc>
                <a:spcPct val="118000"/>
              </a:lnSpc>
              <a:spcAft>
                <a:spcPts val="950"/>
              </a:spcAft>
              <a:buFont typeface="Arial" panose="020B0604020202020204" pitchFamily="34" charset="0"/>
              <a:buChar char="•"/>
            </a:pPr>
            <a:r>
              <a:rPr lang="en-US" sz="1600" dirty="0">
                <a:solidFill>
                  <a:srgbClr val="EEF0FF"/>
                </a:solidFill>
                <a:latin typeface="Lexend" pitchFamily="34" charset="0"/>
                <a:ea typeface="Lexend" pitchFamily="34" charset="-122"/>
                <a:cs typeface="Lexend" pitchFamily="34" charset="-120"/>
              </a:rPr>
              <a:t>College → Library · 4 km</a:t>
            </a:r>
            <a:endParaRPr lang="en-US" sz="1600" dirty="0"/>
          </a:p>
          <a:p>
            <a:pPr marL="285750" indent="-285750" algn="l">
              <a:lnSpc>
                <a:spcPct val="118000"/>
              </a:lnSpc>
              <a:spcAft>
                <a:spcPts val="950"/>
              </a:spcAft>
              <a:buFont typeface="Arial" panose="020B0604020202020204" pitchFamily="34" charset="0"/>
              <a:buChar char="•"/>
            </a:pPr>
            <a:r>
              <a:rPr lang="en-US" sz="1600" dirty="0">
                <a:solidFill>
                  <a:srgbClr val="EEF0FF"/>
                </a:solidFill>
                <a:latin typeface="Lexend" pitchFamily="34" charset="0"/>
                <a:ea typeface="Lexend" pitchFamily="34" charset="-122"/>
                <a:cs typeface="Lexend" pitchFamily="34" charset="-120"/>
              </a:rPr>
              <a:t>College → Mall · 2 km</a:t>
            </a:r>
            <a:endParaRPr lang="en-US" sz="1600" dirty="0"/>
          </a:p>
          <a:p>
            <a:pPr marL="285750" indent="-285750" algn="l">
              <a:lnSpc>
                <a:spcPct val="118000"/>
              </a:lnSpc>
              <a:buFont typeface="Arial" panose="020B0604020202020204" pitchFamily="34" charset="0"/>
              <a:buChar char="•"/>
            </a:pPr>
            <a:r>
              <a:rPr lang="en-US" sz="1600" dirty="0">
                <a:solidFill>
                  <a:srgbClr val="EEF0FF"/>
                </a:solidFill>
                <a:latin typeface="Lexend" pitchFamily="34" charset="0"/>
                <a:ea typeface="Lexend" pitchFamily="34" charset="-122"/>
                <a:cs typeface="Lexend" pitchFamily="34" charset="-120"/>
              </a:rPr>
              <a:t>Mall → Library · 1 km</a:t>
            </a:r>
            <a:endParaRPr lang="en-US" sz="1600" dirty="0"/>
          </a:p>
        </p:txBody>
      </p:sp>
      <p:sp>
        <p:nvSpPr>
          <p:cNvPr id="9" name="Text 6"/>
          <p:cNvSpPr/>
          <p:nvPr/>
        </p:nvSpPr>
        <p:spPr>
          <a:xfrm>
            <a:off x="7568910" y="3197309"/>
            <a:ext cx="3739450" cy="1097853"/>
          </a:xfrm>
          <a:prstGeom prst="rect">
            <a:avLst/>
          </a:prstGeom>
          <a:noFill/>
          <a:ln/>
        </p:spPr>
        <p:txBody>
          <a:bodyPr wrap="square" lIns="0" tIns="0" rIns="0" bIns="0" rtlCol="0" anchor="t">
            <a:noAutofit/>
          </a:bodyPr>
          <a:lstStyle/>
          <a:p>
            <a:pPr marL="285750" indent="-285750" algn="l">
              <a:lnSpc>
                <a:spcPct val="118000"/>
              </a:lnSpc>
              <a:spcAft>
                <a:spcPts val="950"/>
              </a:spcAft>
              <a:buFont typeface="Arial" panose="020B0604020202020204" pitchFamily="34" charset="0"/>
              <a:buChar char="•"/>
            </a:pPr>
            <a:r>
              <a:rPr lang="en-US" sz="1600" dirty="0">
                <a:solidFill>
                  <a:srgbClr val="EEF0FF"/>
                </a:solidFill>
                <a:latin typeface="Lexend" pitchFamily="34" charset="0"/>
                <a:ea typeface="Lexend" pitchFamily="34" charset="-122"/>
                <a:cs typeface="Lexend" pitchFamily="34" charset="-120"/>
              </a:rPr>
              <a:t>Library → Hospital · 5 km</a:t>
            </a:r>
            <a:endParaRPr lang="en-US" sz="1600" dirty="0"/>
          </a:p>
          <a:p>
            <a:pPr marL="285750" indent="-285750" algn="l">
              <a:lnSpc>
                <a:spcPct val="118000"/>
              </a:lnSpc>
              <a:spcAft>
                <a:spcPts val="950"/>
              </a:spcAft>
              <a:buFont typeface="Arial" panose="020B0604020202020204" pitchFamily="34" charset="0"/>
              <a:buChar char="•"/>
            </a:pPr>
            <a:r>
              <a:rPr lang="en-US" sz="1600" dirty="0">
                <a:solidFill>
                  <a:srgbClr val="EEF0FF"/>
                </a:solidFill>
                <a:latin typeface="Lexend" pitchFamily="34" charset="0"/>
                <a:ea typeface="Lexend" pitchFamily="34" charset="-122"/>
                <a:cs typeface="Lexend" pitchFamily="34" charset="-120"/>
              </a:rPr>
              <a:t>Mall → Hospital · 8 km</a:t>
            </a:r>
            <a:endParaRPr lang="en-US" sz="1600" dirty="0"/>
          </a:p>
          <a:p>
            <a:pPr marL="285750" indent="-285750" algn="l">
              <a:lnSpc>
                <a:spcPct val="118000"/>
              </a:lnSpc>
              <a:buFont typeface="Arial" panose="020B0604020202020204" pitchFamily="34" charset="0"/>
              <a:buChar char="•"/>
            </a:pPr>
            <a:r>
              <a:rPr lang="en-US" sz="1600" dirty="0">
                <a:solidFill>
                  <a:srgbClr val="EEF0FF"/>
                </a:solidFill>
                <a:latin typeface="Lexend" pitchFamily="34" charset="0"/>
                <a:ea typeface="Lexend" pitchFamily="34" charset="-122"/>
                <a:cs typeface="Lexend" pitchFamily="34" charset="-120"/>
              </a:rPr>
              <a:t>Library → Railway Station · 10 km</a:t>
            </a:r>
            <a:endParaRPr lang="en-US" sz="1600" dirty="0"/>
          </a:p>
        </p:txBody>
      </p:sp>
      <p:sp>
        <p:nvSpPr>
          <p:cNvPr id="10" name="Text 7"/>
          <p:cNvSpPr/>
          <p:nvPr/>
        </p:nvSpPr>
        <p:spPr>
          <a:xfrm>
            <a:off x="7568910" y="4414435"/>
            <a:ext cx="4226127" cy="1317073"/>
          </a:xfrm>
          <a:prstGeom prst="rect">
            <a:avLst/>
          </a:prstGeom>
          <a:noFill/>
          <a:ln/>
        </p:spPr>
        <p:txBody>
          <a:bodyPr wrap="square" lIns="0" tIns="0" rIns="0" bIns="0" rtlCol="0" anchor="t">
            <a:noAutofit/>
          </a:bodyPr>
          <a:lstStyle/>
          <a:p>
            <a:pPr marL="285750" indent="-285750" algn="l">
              <a:lnSpc>
                <a:spcPct val="118000"/>
              </a:lnSpc>
              <a:spcAft>
                <a:spcPts val="950"/>
              </a:spcAft>
              <a:buFont typeface="Arial" panose="020B0604020202020204" pitchFamily="34" charset="0"/>
              <a:buChar char="•"/>
            </a:pPr>
            <a:r>
              <a:rPr lang="en-US" sz="1600" dirty="0">
                <a:solidFill>
                  <a:srgbClr val="EEF0FF"/>
                </a:solidFill>
                <a:latin typeface="Lexend" pitchFamily="34" charset="0"/>
                <a:ea typeface="Lexend" pitchFamily="34" charset="-122"/>
                <a:cs typeface="Lexend" pitchFamily="34" charset="-120"/>
              </a:rPr>
              <a:t>Hospital → Railway Station · 2 km</a:t>
            </a:r>
            <a:endParaRPr lang="en-US" sz="1600" dirty="0"/>
          </a:p>
          <a:p>
            <a:pPr marL="285750" indent="-285750" algn="l">
              <a:lnSpc>
                <a:spcPct val="118000"/>
              </a:lnSpc>
              <a:spcAft>
                <a:spcPts val="950"/>
              </a:spcAft>
              <a:buFont typeface="Arial" panose="020B0604020202020204" pitchFamily="34" charset="0"/>
              <a:buChar char="•"/>
            </a:pPr>
            <a:r>
              <a:rPr lang="en-US" sz="1600" dirty="0">
                <a:solidFill>
                  <a:srgbClr val="EEF0FF"/>
                </a:solidFill>
                <a:latin typeface="Lexend" pitchFamily="34" charset="0"/>
                <a:ea typeface="Lexend" pitchFamily="34" charset="-122"/>
                <a:cs typeface="Lexend" pitchFamily="34" charset="-120"/>
              </a:rPr>
              <a:t>Railway Station → Airport · 3 km</a:t>
            </a:r>
            <a:endParaRPr lang="en-US" sz="1600" dirty="0"/>
          </a:p>
          <a:p>
            <a:pPr marL="285750" indent="-285750" algn="l">
              <a:lnSpc>
                <a:spcPct val="118000"/>
              </a:lnSpc>
              <a:buFont typeface="Arial" panose="020B0604020202020204" pitchFamily="34" charset="0"/>
              <a:buChar char="•"/>
            </a:pPr>
            <a:r>
              <a:rPr lang="en-US" sz="1600" dirty="0">
                <a:solidFill>
                  <a:srgbClr val="EEF0FF"/>
                </a:solidFill>
                <a:latin typeface="Lexend" pitchFamily="34" charset="0"/>
                <a:ea typeface="Lexend" pitchFamily="34" charset="-122"/>
                <a:cs typeface="Lexend" pitchFamily="34" charset="-120"/>
              </a:rPr>
              <a:t>Hospital → Airport · 7 km</a:t>
            </a:r>
            <a:endParaRPr lang="en-US" sz="1600" dirty="0"/>
          </a:p>
        </p:txBody>
      </p:sp>
      <p:pic>
        <p:nvPicPr>
          <p:cNvPr id="11" name="Image 1" descr="preencoded.png"/>
          <p:cNvPicPr>
            <a:picLocks noChangeAspect="1"/>
          </p:cNvPicPr>
          <p:nvPr/>
        </p:nvPicPr>
        <p:blipFill>
          <a:blip r:embed="rId4"/>
          <a:stretch>
            <a:fillRect/>
          </a:stretch>
        </p:blipFill>
        <p:spPr>
          <a:xfrm>
            <a:off x="0" y="0"/>
            <a:ext cx="12191695" cy="59134"/>
          </a:xfrm>
          <a:prstGeom prst="rect">
            <a:avLst/>
          </a:prstGeom>
        </p:spPr>
      </p:pic>
      <p:sp>
        <p:nvSpPr>
          <p:cNvPr id="23" name="TextBox 22"/>
          <p:cNvSpPr txBox="1"/>
          <p:nvPr/>
        </p:nvSpPr>
        <p:spPr>
          <a:xfrm>
            <a:off x="2268926" y="3249907"/>
            <a:ext cx="444616" cy="352338"/>
          </a:xfrm>
          <a:prstGeom prst="rect">
            <a:avLst/>
          </a:prstGeom>
          <a:solidFill>
            <a:srgbClr val="262D92"/>
          </a:solidFill>
        </p:spPr>
        <p:txBody>
          <a:bodyPr wrap="square" rtlCol="0">
            <a:spAutoFit/>
          </a:bodyPr>
          <a:lstStyle/>
          <a:p>
            <a:endParaRPr lang="en-US" dirty="0"/>
          </a:p>
        </p:txBody>
      </p:sp>
      <p:sp>
        <p:nvSpPr>
          <p:cNvPr id="24" name="TextBox 23"/>
          <p:cNvSpPr txBox="1"/>
          <p:nvPr/>
        </p:nvSpPr>
        <p:spPr>
          <a:xfrm>
            <a:off x="2046618" y="2319204"/>
            <a:ext cx="444616" cy="352338"/>
          </a:xfrm>
          <a:prstGeom prst="rect">
            <a:avLst/>
          </a:prstGeom>
          <a:solidFill>
            <a:srgbClr val="262D92"/>
          </a:solidFill>
        </p:spPr>
        <p:txBody>
          <a:bodyPr wrap="square" rtlCol="0">
            <a:spAutoFit/>
          </a:bodyPr>
          <a:lstStyle/>
          <a:p>
            <a:endParaRPr lang="en-US" dirty="0"/>
          </a:p>
        </p:txBody>
      </p:sp>
      <p:sp>
        <p:nvSpPr>
          <p:cNvPr id="25" name="TextBox 24"/>
          <p:cNvSpPr txBox="1"/>
          <p:nvPr/>
        </p:nvSpPr>
        <p:spPr>
          <a:xfrm>
            <a:off x="2796034" y="2867080"/>
            <a:ext cx="444616" cy="352338"/>
          </a:xfrm>
          <a:prstGeom prst="rect">
            <a:avLst/>
          </a:prstGeom>
          <a:solidFill>
            <a:srgbClr val="262D92"/>
          </a:solidFill>
        </p:spPr>
        <p:txBody>
          <a:bodyPr wrap="square" rtlCol="0">
            <a:spAutoFit/>
          </a:bodyPr>
          <a:lstStyle/>
          <a:p>
            <a:endParaRPr lang="en-US" dirty="0"/>
          </a:p>
        </p:txBody>
      </p:sp>
      <p:sp>
        <p:nvSpPr>
          <p:cNvPr id="26" name="TextBox 25"/>
          <p:cNvSpPr txBox="1"/>
          <p:nvPr/>
        </p:nvSpPr>
        <p:spPr>
          <a:xfrm>
            <a:off x="3228551" y="2449123"/>
            <a:ext cx="444616" cy="352338"/>
          </a:xfrm>
          <a:prstGeom prst="rect">
            <a:avLst/>
          </a:prstGeom>
          <a:solidFill>
            <a:srgbClr val="262D92"/>
          </a:solidFill>
        </p:spPr>
        <p:txBody>
          <a:bodyPr wrap="square" rtlCol="0">
            <a:spAutoFit/>
          </a:bodyPr>
          <a:lstStyle/>
          <a:p>
            <a:endParaRPr lang="en-US" dirty="0"/>
          </a:p>
        </p:txBody>
      </p:sp>
      <p:sp>
        <p:nvSpPr>
          <p:cNvPr id="27" name="TextBox 26"/>
          <p:cNvSpPr txBox="1"/>
          <p:nvPr/>
        </p:nvSpPr>
        <p:spPr>
          <a:xfrm>
            <a:off x="3214757" y="3343540"/>
            <a:ext cx="444616" cy="352338"/>
          </a:xfrm>
          <a:prstGeom prst="rect">
            <a:avLst/>
          </a:prstGeom>
          <a:solidFill>
            <a:srgbClr val="262D92"/>
          </a:solidFill>
        </p:spPr>
        <p:txBody>
          <a:bodyPr wrap="square" rtlCol="0">
            <a:spAutoFit/>
          </a:bodyPr>
          <a:lstStyle/>
          <a:p>
            <a:endParaRPr lang="en-US" dirty="0"/>
          </a:p>
        </p:txBody>
      </p:sp>
      <p:sp>
        <p:nvSpPr>
          <p:cNvPr id="28" name="TextBox 27"/>
          <p:cNvSpPr txBox="1"/>
          <p:nvPr/>
        </p:nvSpPr>
        <p:spPr>
          <a:xfrm>
            <a:off x="4188176" y="2331786"/>
            <a:ext cx="444616" cy="352338"/>
          </a:xfrm>
          <a:prstGeom prst="rect">
            <a:avLst/>
          </a:prstGeom>
          <a:solidFill>
            <a:srgbClr val="262D92"/>
          </a:solidFill>
        </p:spPr>
        <p:txBody>
          <a:bodyPr wrap="square" rtlCol="0">
            <a:spAutoFit/>
          </a:bodyPr>
          <a:lstStyle/>
          <a:p>
            <a:endParaRPr lang="en-US" dirty="0"/>
          </a:p>
        </p:txBody>
      </p:sp>
      <p:sp>
        <p:nvSpPr>
          <p:cNvPr id="29" name="TextBox 28"/>
          <p:cNvSpPr txBox="1"/>
          <p:nvPr/>
        </p:nvSpPr>
        <p:spPr>
          <a:xfrm>
            <a:off x="4328562" y="3426076"/>
            <a:ext cx="444616" cy="352338"/>
          </a:xfrm>
          <a:prstGeom prst="rect">
            <a:avLst/>
          </a:prstGeom>
          <a:solidFill>
            <a:srgbClr val="262D92"/>
          </a:solidFill>
        </p:spPr>
        <p:txBody>
          <a:bodyPr wrap="square" rtlCol="0">
            <a:spAutoFit/>
          </a:bodyPr>
          <a:lstStyle/>
          <a:p>
            <a:endParaRPr lang="en-US" dirty="0"/>
          </a:p>
        </p:txBody>
      </p:sp>
      <p:sp>
        <p:nvSpPr>
          <p:cNvPr id="30" name="TextBox 29"/>
          <p:cNvSpPr txBox="1"/>
          <p:nvPr/>
        </p:nvSpPr>
        <p:spPr>
          <a:xfrm>
            <a:off x="5024525" y="3360540"/>
            <a:ext cx="444616" cy="352338"/>
          </a:xfrm>
          <a:prstGeom prst="rect">
            <a:avLst/>
          </a:prstGeom>
          <a:solidFill>
            <a:srgbClr val="262D92"/>
          </a:solidFill>
        </p:spPr>
        <p:txBody>
          <a:bodyPr wrap="square" rtlCol="0">
            <a:spAutoFit/>
          </a:bodyPr>
          <a:lstStyle/>
          <a:p>
            <a:endParaRPr lang="en-US" dirty="0"/>
          </a:p>
        </p:txBody>
      </p:sp>
      <p:sp>
        <p:nvSpPr>
          <p:cNvPr id="31" name="TextBox 30"/>
          <p:cNvSpPr txBox="1"/>
          <p:nvPr/>
        </p:nvSpPr>
        <p:spPr>
          <a:xfrm>
            <a:off x="5260437" y="2280395"/>
            <a:ext cx="444616" cy="352338"/>
          </a:xfrm>
          <a:prstGeom prst="rect">
            <a:avLst/>
          </a:prstGeom>
          <a:solidFill>
            <a:srgbClr val="262D92"/>
          </a:solidFill>
        </p:spPr>
        <p:txBody>
          <a:bodyPr wrap="square" rtlCol="0">
            <a:spAutoFit/>
          </a:bodyPr>
          <a:lstStyle/>
          <a:p>
            <a:endParaRPr lang="en-US" dirty="0"/>
          </a:p>
        </p:txBody>
      </p:sp>
      <p:sp>
        <p:nvSpPr>
          <p:cNvPr id="32" name="TextBox 31"/>
          <p:cNvSpPr txBox="1"/>
          <p:nvPr/>
        </p:nvSpPr>
        <p:spPr>
          <a:xfrm>
            <a:off x="5469140" y="2496190"/>
            <a:ext cx="1166551" cy="362023"/>
          </a:xfrm>
          <a:prstGeom prst="rect">
            <a:avLst/>
          </a:prstGeom>
          <a:solidFill>
            <a:srgbClr val="262D92"/>
          </a:solidFill>
        </p:spPr>
        <p:txBody>
          <a:bodyPr wrap="square" rtlCol="0">
            <a:spAutoFit/>
          </a:bodyPr>
          <a:lstStyle/>
          <a:p>
            <a:endParaRPr lang="en-US" dirty="0"/>
          </a:p>
        </p:txBody>
      </p:sp>
      <p:sp>
        <p:nvSpPr>
          <p:cNvPr id="33" name="TextBox 32"/>
          <p:cNvSpPr txBox="1"/>
          <p:nvPr/>
        </p:nvSpPr>
        <p:spPr>
          <a:xfrm>
            <a:off x="1435606" y="2477205"/>
            <a:ext cx="541715" cy="371707"/>
          </a:xfrm>
          <a:prstGeom prst="rect">
            <a:avLst/>
          </a:prstGeom>
          <a:solidFill>
            <a:srgbClr val="262D92"/>
          </a:solidFill>
        </p:spPr>
        <p:txBody>
          <a:bodyPr wrap="square" rtlCol="0">
            <a:spAutoFit/>
          </a:bodyPr>
          <a:lstStyle/>
          <a:p>
            <a:endParaRPr lang="en-US" dirty="0"/>
          </a:p>
        </p:txBody>
      </p:sp>
      <p:cxnSp>
        <p:nvCxnSpPr>
          <p:cNvPr id="15" name="Straight Connector 14"/>
          <p:cNvCxnSpPr/>
          <p:nvPr/>
        </p:nvCxnSpPr>
        <p:spPr>
          <a:xfrm>
            <a:off x="1937829" y="3135278"/>
            <a:ext cx="784993" cy="53204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034265" y="2377496"/>
            <a:ext cx="773424" cy="57192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1925642" y="2387330"/>
            <a:ext cx="803844" cy="56209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3044639" y="3162898"/>
            <a:ext cx="763050" cy="5329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4085491" y="2377496"/>
            <a:ext cx="731978" cy="52670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4149087" y="3034340"/>
            <a:ext cx="1555966" cy="110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5096033" y="2370654"/>
            <a:ext cx="609020" cy="57192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053285" y="2244792"/>
            <a:ext cx="1719893" cy="229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2856588" y="2457052"/>
            <a:ext cx="0" cy="11451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1306890" y="2505641"/>
            <a:ext cx="974374" cy="338554"/>
          </a:xfrm>
          <a:prstGeom prst="rect">
            <a:avLst/>
          </a:prstGeom>
          <a:noFill/>
        </p:spPr>
        <p:txBody>
          <a:bodyPr wrap="square" rtlCol="0">
            <a:spAutoFit/>
          </a:bodyPr>
          <a:lstStyle/>
          <a:p>
            <a:r>
              <a:rPr lang="en-US" sz="1600" dirty="0">
                <a:solidFill>
                  <a:srgbClr val="FFC000"/>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Start</a:t>
            </a:r>
          </a:p>
        </p:txBody>
      </p:sp>
      <p:sp>
        <p:nvSpPr>
          <p:cNvPr id="60" name="TextBox 59"/>
          <p:cNvSpPr txBox="1"/>
          <p:nvPr/>
        </p:nvSpPr>
        <p:spPr>
          <a:xfrm>
            <a:off x="5222772" y="3413545"/>
            <a:ext cx="1684653" cy="338554"/>
          </a:xfrm>
          <a:prstGeom prst="rect">
            <a:avLst/>
          </a:prstGeom>
          <a:noFill/>
        </p:spPr>
        <p:txBody>
          <a:bodyPr wrap="square" rtlCol="0">
            <a:spAutoFit/>
          </a:bodyPr>
          <a:lstStyle/>
          <a:p>
            <a:r>
              <a:rPr lang="en-US" sz="1600" dirty="0">
                <a:solidFill>
                  <a:srgbClr val="FFC000"/>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Destination</a:t>
            </a:r>
          </a:p>
        </p:txBody>
      </p:sp>
      <p:sp>
        <p:nvSpPr>
          <p:cNvPr id="61" name="TextBox 60"/>
          <p:cNvSpPr txBox="1"/>
          <p:nvPr/>
        </p:nvSpPr>
        <p:spPr>
          <a:xfrm>
            <a:off x="2169391" y="2297360"/>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4</a:t>
            </a:r>
          </a:p>
        </p:txBody>
      </p:sp>
      <p:sp>
        <p:nvSpPr>
          <p:cNvPr id="64" name="TextBox 63"/>
          <p:cNvSpPr txBox="1"/>
          <p:nvPr/>
        </p:nvSpPr>
        <p:spPr>
          <a:xfrm>
            <a:off x="2548429" y="2819814"/>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1</a:t>
            </a:r>
          </a:p>
        </p:txBody>
      </p:sp>
      <p:sp>
        <p:nvSpPr>
          <p:cNvPr id="65" name="TextBox 64"/>
          <p:cNvSpPr txBox="1"/>
          <p:nvPr/>
        </p:nvSpPr>
        <p:spPr>
          <a:xfrm>
            <a:off x="2130894" y="3431235"/>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2</a:t>
            </a:r>
          </a:p>
        </p:txBody>
      </p:sp>
      <p:sp>
        <p:nvSpPr>
          <p:cNvPr id="66" name="TextBox 65"/>
          <p:cNvSpPr txBox="1"/>
          <p:nvPr/>
        </p:nvSpPr>
        <p:spPr>
          <a:xfrm>
            <a:off x="3330998" y="3497623"/>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8</a:t>
            </a:r>
          </a:p>
        </p:txBody>
      </p:sp>
      <p:sp>
        <p:nvSpPr>
          <p:cNvPr id="67" name="TextBox 66"/>
          <p:cNvSpPr txBox="1"/>
          <p:nvPr/>
        </p:nvSpPr>
        <p:spPr>
          <a:xfrm>
            <a:off x="3465487" y="2475687"/>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5</a:t>
            </a:r>
          </a:p>
        </p:txBody>
      </p:sp>
      <p:sp>
        <p:nvSpPr>
          <p:cNvPr id="68" name="TextBox 67"/>
          <p:cNvSpPr txBox="1"/>
          <p:nvPr/>
        </p:nvSpPr>
        <p:spPr>
          <a:xfrm>
            <a:off x="4719583" y="3079078"/>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7</a:t>
            </a:r>
          </a:p>
        </p:txBody>
      </p:sp>
      <p:sp>
        <p:nvSpPr>
          <p:cNvPr id="69" name="TextBox 68"/>
          <p:cNvSpPr txBox="1"/>
          <p:nvPr/>
        </p:nvSpPr>
        <p:spPr>
          <a:xfrm>
            <a:off x="3759106" y="1957858"/>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10</a:t>
            </a:r>
          </a:p>
        </p:txBody>
      </p:sp>
      <p:sp>
        <p:nvSpPr>
          <p:cNvPr id="70" name="TextBox 69"/>
          <p:cNvSpPr txBox="1"/>
          <p:nvPr/>
        </p:nvSpPr>
        <p:spPr>
          <a:xfrm>
            <a:off x="5327517" y="2367141"/>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3</a:t>
            </a:r>
          </a:p>
        </p:txBody>
      </p:sp>
      <p:sp>
        <p:nvSpPr>
          <p:cNvPr id="71" name="TextBox 70"/>
          <p:cNvSpPr txBox="1"/>
          <p:nvPr/>
        </p:nvSpPr>
        <p:spPr>
          <a:xfrm>
            <a:off x="4402541" y="2575945"/>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58786" y="178117"/>
            <a:ext cx="11074123" cy="370284"/>
          </a:xfrm>
          <a:prstGeom prst="rect">
            <a:avLst/>
          </a:prstGeom>
          <a:noFill/>
          <a:ln/>
        </p:spPr>
        <p:txBody>
          <a:bodyPr wrap="none" lIns="0" tIns="0" rIns="0" bIns="0" rtlCol="0" anchor="t"/>
          <a:lstStyle/>
          <a:p>
            <a:pPr marL="0" indent="0" algn="l">
              <a:lnSpc>
                <a:spcPct val="90000"/>
              </a:lnSpc>
              <a:buNone/>
            </a:pPr>
            <a:r>
              <a:rPr lang="en-US" sz="2700" kern="100" spc="-27" dirty="0">
                <a:solidFill>
                  <a:srgbClr val="F4C45A"/>
                </a:solidFill>
                <a:latin typeface="Krona One" pitchFamily="34" charset="0"/>
                <a:ea typeface="Krona One" pitchFamily="34" charset="-122"/>
                <a:cs typeface="Krona One" pitchFamily="34" charset="-120"/>
              </a:rPr>
              <a:t>Turn the city into a weighted graph</a:t>
            </a:r>
            <a:endParaRPr lang="en-US" sz="2700" dirty="0"/>
          </a:p>
        </p:txBody>
      </p:sp>
      <p:sp>
        <p:nvSpPr>
          <p:cNvPr id="3" name="Shape 1"/>
          <p:cNvSpPr/>
          <p:nvPr/>
        </p:nvSpPr>
        <p:spPr>
          <a:xfrm>
            <a:off x="558786" y="738584"/>
            <a:ext cx="6102693" cy="5002510"/>
          </a:xfrm>
          <a:prstGeom prst="rect">
            <a:avLst/>
          </a:prstGeom>
          <a:solidFill>
            <a:srgbClr val="262D92"/>
          </a:solidFill>
          <a:ln/>
          <a:effectLst>
            <a:outerShdw blurRad="278130" dist="127" dir="16200000" algn="bl" rotWithShape="0">
              <a:srgbClr val="B7BCEB">
                <a:alpha val="20000"/>
              </a:srgbClr>
            </a:outerShdw>
          </a:effectLst>
        </p:spPr>
      </p:sp>
      <p:pic>
        <p:nvPicPr>
          <p:cNvPr id="4" name="Image 0" descr="preencoded.png"/>
          <p:cNvPicPr>
            <a:picLocks noChangeAspect="1"/>
          </p:cNvPicPr>
          <p:nvPr/>
        </p:nvPicPr>
        <p:blipFill>
          <a:blip r:embed="rId3"/>
          <a:stretch>
            <a:fillRect/>
          </a:stretch>
        </p:blipFill>
        <p:spPr>
          <a:xfrm>
            <a:off x="812780" y="967184"/>
            <a:ext cx="5594706" cy="3886200"/>
          </a:xfrm>
          <a:prstGeom prst="rect">
            <a:avLst/>
          </a:prstGeom>
        </p:spPr>
      </p:pic>
      <p:sp>
        <p:nvSpPr>
          <p:cNvPr id="5" name="Shape 2"/>
          <p:cNvSpPr/>
          <p:nvPr/>
        </p:nvSpPr>
        <p:spPr>
          <a:xfrm>
            <a:off x="6966173" y="738584"/>
            <a:ext cx="4666736" cy="5002510"/>
          </a:xfrm>
          <a:prstGeom prst="rect">
            <a:avLst/>
          </a:prstGeom>
          <a:solidFill>
            <a:srgbClr val="262D92"/>
          </a:solidFill>
          <a:ln/>
          <a:effectLst>
            <a:outerShdw blurRad="328930" dist="127" dir="16200000" algn="bl" rotWithShape="0">
              <a:srgbClr val="F4C45A">
                <a:alpha val="20000"/>
              </a:srgbClr>
            </a:outerShdw>
          </a:effectLst>
        </p:spPr>
      </p:sp>
      <p:sp>
        <p:nvSpPr>
          <p:cNvPr id="6" name="Text 3"/>
          <p:cNvSpPr/>
          <p:nvPr/>
        </p:nvSpPr>
        <p:spPr>
          <a:xfrm>
            <a:off x="7142281" y="867986"/>
            <a:ext cx="4412743" cy="213320"/>
          </a:xfrm>
          <a:prstGeom prst="rect">
            <a:avLst/>
          </a:prstGeom>
          <a:noFill/>
          <a:ln/>
        </p:spPr>
        <p:txBody>
          <a:bodyPr wrap="none" lIns="0" tIns="0" rIns="0" bIns="0" rtlCol="0" anchor="t"/>
          <a:lstStyle/>
          <a:p>
            <a:pPr marL="285750" indent="-285750" algn="l">
              <a:lnSpc>
                <a:spcPct val="100000"/>
              </a:lnSpc>
              <a:buFont typeface="Courier New" panose="02070309020205020404" pitchFamily="49" charset="0"/>
              <a:buChar char="o"/>
            </a:pPr>
            <a:r>
              <a:rPr lang="en-US" kern="100" spc="42" dirty="0">
                <a:solidFill>
                  <a:srgbClr val="EEF0FF"/>
                </a:solidFill>
                <a:latin typeface="Azeret Mono Medium" pitchFamily="34" charset="0"/>
                <a:ea typeface="Azeret Mono Medium" pitchFamily="34" charset="-122"/>
                <a:cs typeface="Azeret Mono Medium" pitchFamily="34" charset="-120"/>
              </a:rPr>
              <a:t>THE MODEL</a:t>
            </a:r>
            <a:endParaRPr lang="en-US" dirty="0"/>
          </a:p>
        </p:txBody>
      </p:sp>
      <p:pic>
        <p:nvPicPr>
          <p:cNvPr id="7" name="Image 1" descr="preencoded.png"/>
          <p:cNvPicPr>
            <a:picLocks noChangeAspect="1"/>
          </p:cNvPicPr>
          <p:nvPr/>
        </p:nvPicPr>
        <p:blipFill>
          <a:blip r:embed="rId4"/>
          <a:stretch>
            <a:fillRect/>
          </a:stretch>
        </p:blipFill>
        <p:spPr>
          <a:xfrm>
            <a:off x="7231972" y="1393963"/>
            <a:ext cx="330192" cy="330200"/>
          </a:xfrm>
          <a:prstGeom prst="rect">
            <a:avLst/>
          </a:prstGeom>
        </p:spPr>
      </p:pic>
      <p:sp>
        <p:nvSpPr>
          <p:cNvPr id="8" name="Text 4"/>
          <p:cNvSpPr/>
          <p:nvPr/>
        </p:nvSpPr>
        <p:spPr>
          <a:xfrm>
            <a:off x="7702754" y="1395826"/>
            <a:ext cx="3676161" cy="346670"/>
          </a:xfrm>
          <a:prstGeom prst="rect">
            <a:avLst/>
          </a:prstGeom>
          <a:noFill/>
          <a:ln/>
        </p:spPr>
        <p:txBody>
          <a:bodyPr wrap="none" lIns="0" tIns="0" rIns="0" bIns="0" rtlCol="0" anchor="t"/>
          <a:lstStyle/>
          <a:p>
            <a:pPr marL="0" indent="0" algn="l">
              <a:lnSpc>
                <a:spcPct val="108000"/>
              </a:lnSpc>
              <a:buNone/>
            </a:pPr>
            <a:r>
              <a:rPr lang="en-US" sz="1600" dirty="0">
                <a:solidFill>
                  <a:srgbClr val="EEF0FF"/>
                </a:solidFill>
                <a:latin typeface="Lexend" pitchFamily="34" charset="0"/>
                <a:ea typeface="Lexend" pitchFamily="34" charset="-122"/>
                <a:cs typeface="Lexend" pitchFamily="34" charset="-120"/>
              </a:rPr>
              <a:t>Nodes</a:t>
            </a:r>
            <a:endParaRPr lang="en-US" sz="1600" dirty="0"/>
          </a:p>
        </p:txBody>
      </p:sp>
      <p:sp>
        <p:nvSpPr>
          <p:cNvPr id="9" name="Text 5"/>
          <p:cNvSpPr/>
          <p:nvPr/>
        </p:nvSpPr>
        <p:spPr>
          <a:xfrm>
            <a:off x="7701762" y="1700217"/>
            <a:ext cx="3676161" cy="306487"/>
          </a:xfrm>
          <a:prstGeom prst="rect">
            <a:avLst/>
          </a:prstGeom>
          <a:noFill/>
          <a:ln/>
        </p:spPr>
        <p:txBody>
          <a:bodyPr wrap="none" lIns="0" tIns="0" rIns="0" bIns="0" rtlCol="0" anchor="t"/>
          <a:lstStyle/>
          <a:p>
            <a:pPr marL="0" indent="0" algn="l">
              <a:lnSpc>
                <a:spcPct val="118000"/>
              </a:lnSpc>
              <a:buNone/>
            </a:pPr>
            <a:r>
              <a:rPr lang="en-US" sz="1600" dirty="0">
                <a:solidFill>
                  <a:srgbClr val="EEF0FF"/>
                </a:solidFill>
                <a:latin typeface="Lexend" pitchFamily="34" charset="0"/>
                <a:ea typeface="Lexend" pitchFamily="34" charset="-122"/>
                <a:cs typeface="Lexend" pitchFamily="34" charset="-120"/>
              </a:rPr>
              <a:t>Vertices: the places we can visit.</a:t>
            </a:r>
            <a:endParaRPr lang="en-US" sz="1600" dirty="0"/>
          </a:p>
        </p:txBody>
      </p:sp>
      <p:pic>
        <p:nvPicPr>
          <p:cNvPr id="10" name="Image 2" descr="preencoded.png"/>
          <p:cNvPicPr>
            <a:picLocks noChangeAspect="1"/>
          </p:cNvPicPr>
          <p:nvPr/>
        </p:nvPicPr>
        <p:blipFill>
          <a:blip r:embed="rId4"/>
          <a:stretch>
            <a:fillRect/>
          </a:stretch>
        </p:blipFill>
        <p:spPr>
          <a:xfrm>
            <a:off x="7231972" y="2318257"/>
            <a:ext cx="330192" cy="330200"/>
          </a:xfrm>
          <a:prstGeom prst="rect">
            <a:avLst/>
          </a:prstGeom>
        </p:spPr>
      </p:pic>
      <p:sp>
        <p:nvSpPr>
          <p:cNvPr id="11" name="Text 6"/>
          <p:cNvSpPr/>
          <p:nvPr/>
        </p:nvSpPr>
        <p:spPr>
          <a:xfrm>
            <a:off x="7702754" y="2358290"/>
            <a:ext cx="3676161" cy="346670"/>
          </a:xfrm>
          <a:prstGeom prst="rect">
            <a:avLst/>
          </a:prstGeom>
          <a:noFill/>
          <a:ln/>
        </p:spPr>
        <p:txBody>
          <a:bodyPr wrap="none" lIns="0" tIns="0" rIns="0" bIns="0" rtlCol="0" anchor="t"/>
          <a:lstStyle/>
          <a:p>
            <a:pPr marL="0" indent="0" algn="l">
              <a:lnSpc>
                <a:spcPct val="108000"/>
              </a:lnSpc>
              <a:buNone/>
            </a:pPr>
            <a:r>
              <a:rPr lang="en-US" sz="1600" dirty="0">
                <a:solidFill>
                  <a:srgbClr val="EEF0FF"/>
                </a:solidFill>
                <a:latin typeface="Lexend" pitchFamily="34" charset="0"/>
                <a:ea typeface="Lexend" pitchFamily="34" charset="-122"/>
                <a:cs typeface="Lexend" pitchFamily="34" charset="-120"/>
              </a:rPr>
              <a:t>Roads</a:t>
            </a:r>
            <a:endParaRPr lang="en-US" sz="1600" dirty="0"/>
          </a:p>
        </p:txBody>
      </p:sp>
      <p:sp>
        <p:nvSpPr>
          <p:cNvPr id="12" name="Text 7"/>
          <p:cNvSpPr/>
          <p:nvPr/>
        </p:nvSpPr>
        <p:spPr>
          <a:xfrm>
            <a:off x="7702754" y="2692812"/>
            <a:ext cx="3676161" cy="612973"/>
          </a:xfrm>
          <a:prstGeom prst="rect">
            <a:avLst/>
          </a:prstGeom>
          <a:noFill/>
          <a:ln/>
        </p:spPr>
        <p:txBody>
          <a:bodyPr wrap="square" lIns="0" tIns="0" rIns="0" bIns="0" rtlCol="0" anchor="t">
            <a:normAutofit/>
          </a:bodyPr>
          <a:lstStyle/>
          <a:p>
            <a:pPr marL="0" indent="0" algn="l">
              <a:lnSpc>
                <a:spcPct val="118000"/>
              </a:lnSpc>
              <a:buNone/>
            </a:pPr>
            <a:r>
              <a:rPr lang="en-US" sz="1600" dirty="0">
                <a:solidFill>
                  <a:srgbClr val="EEF0FF"/>
                </a:solidFill>
                <a:latin typeface="Lexend" pitchFamily="34" charset="0"/>
                <a:ea typeface="Lexend" pitchFamily="34" charset="-122"/>
                <a:cs typeface="Lexend" pitchFamily="34" charset="-120"/>
              </a:rPr>
              <a:t>Edges: the connections between places.</a:t>
            </a:r>
            <a:endParaRPr lang="en-US" sz="1600" dirty="0"/>
          </a:p>
        </p:txBody>
      </p:sp>
      <p:pic>
        <p:nvPicPr>
          <p:cNvPr id="13" name="Image 3" descr="preencoded.png"/>
          <p:cNvPicPr>
            <a:picLocks noChangeAspect="1"/>
          </p:cNvPicPr>
          <p:nvPr/>
        </p:nvPicPr>
        <p:blipFill>
          <a:blip r:embed="rId4"/>
          <a:stretch>
            <a:fillRect/>
          </a:stretch>
        </p:blipFill>
        <p:spPr>
          <a:xfrm>
            <a:off x="7220166" y="3524190"/>
            <a:ext cx="330192" cy="330200"/>
          </a:xfrm>
          <a:prstGeom prst="rect">
            <a:avLst/>
          </a:prstGeom>
        </p:spPr>
      </p:pic>
      <p:sp>
        <p:nvSpPr>
          <p:cNvPr id="14" name="Text 8"/>
          <p:cNvSpPr/>
          <p:nvPr/>
        </p:nvSpPr>
        <p:spPr>
          <a:xfrm>
            <a:off x="7701761" y="3576362"/>
            <a:ext cx="3676161" cy="346670"/>
          </a:xfrm>
          <a:prstGeom prst="rect">
            <a:avLst/>
          </a:prstGeom>
          <a:noFill/>
          <a:ln/>
        </p:spPr>
        <p:txBody>
          <a:bodyPr wrap="none" lIns="0" tIns="0" rIns="0" bIns="0" rtlCol="0" anchor="t"/>
          <a:lstStyle/>
          <a:p>
            <a:pPr marL="0" indent="0" algn="l">
              <a:lnSpc>
                <a:spcPct val="108000"/>
              </a:lnSpc>
              <a:buNone/>
            </a:pPr>
            <a:r>
              <a:rPr lang="en-US" sz="1600" dirty="0">
                <a:solidFill>
                  <a:srgbClr val="EEF0FF"/>
                </a:solidFill>
                <a:latin typeface="Lexend" pitchFamily="34" charset="0"/>
                <a:ea typeface="Lexend" pitchFamily="34" charset="-122"/>
                <a:cs typeface="Lexend" pitchFamily="34" charset="-120"/>
              </a:rPr>
              <a:t>Numbers</a:t>
            </a:r>
            <a:endParaRPr lang="en-US" sz="1600" dirty="0"/>
          </a:p>
        </p:txBody>
      </p:sp>
      <p:sp>
        <p:nvSpPr>
          <p:cNvPr id="15" name="Text 9"/>
          <p:cNvSpPr/>
          <p:nvPr/>
        </p:nvSpPr>
        <p:spPr>
          <a:xfrm>
            <a:off x="7702754" y="3903627"/>
            <a:ext cx="3676161" cy="612973"/>
          </a:xfrm>
          <a:prstGeom prst="rect">
            <a:avLst/>
          </a:prstGeom>
          <a:noFill/>
          <a:ln/>
        </p:spPr>
        <p:txBody>
          <a:bodyPr wrap="square" lIns="0" tIns="0" rIns="0" bIns="0" rtlCol="0" anchor="t">
            <a:normAutofit/>
          </a:bodyPr>
          <a:lstStyle/>
          <a:p>
            <a:pPr marL="0" indent="0" algn="l">
              <a:lnSpc>
                <a:spcPct val="118000"/>
              </a:lnSpc>
              <a:buNone/>
            </a:pPr>
            <a:r>
              <a:rPr lang="en-US" sz="1600" dirty="0">
                <a:solidFill>
                  <a:srgbClr val="EEF0FF"/>
                </a:solidFill>
                <a:latin typeface="Lexend" pitchFamily="34" charset="0"/>
                <a:ea typeface="Lexend" pitchFamily="34" charset="-122"/>
                <a:cs typeface="Lexend" pitchFamily="34" charset="-120"/>
              </a:rPr>
              <a:t>Weights: the distance on each edge.</a:t>
            </a:r>
            <a:endParaRPr lang="en-US" sz="1600" dirty="0"/>
          </a:p>
        </p:txBody>
      </p:sp>
      <p:sp>
        <p:nvSpPr>
          <p:cNvPr id="16" name="Text 10"/>
          <p:cNvSpPr/>
          <p:nvPr/>
        </p:nvSpPr>
        <p:spPr>
          <a:xfrm>
            <a:off x="7229967" y="4539393"/>
            <a:ext cx="4147956" cy="946692"/>
          </a:xfrm>
          <a:prstGeom prst="rect">
            <a:avLst/>
          </a:prstGeom>
          <a:noFill/>
          <a:ln/>
        </p:spPr>
        <p:txBody>
          <a:bodyPr wrap="square" lIns="0" tIns="0" rIns="0" bIns="0" rtlCol="0" anchor="t">
            <a:noAutofit/>
          </a:bodyPr>
          <a:lstStyle/>
          <a:p>
            <a:pPr marL="0" indent="0" algn="just">
              <a:lnSpc>
                <a:spcPct val="108000"/>
              </a:lnSpc>
              <a:buNone/>
            </a:pPr>
            <a:r>
              <a:rPr lang="en-US" sz="1600" kern="100" spc="13" dirty="0">
                <a:solidFill>
                  <a:srgbClr val="EEF0FF"/>
                </a:solidFill>
                <a:latin typeface="Azeret Mono" pitchFamily="34" charset="0"/>
                <a:ea typeface="Azeret Mono" pitchFamily="34" charset="-122"/>
                <a:cs typeface="Azeret Mono" pitchFamily="34" charset="-120"/>
              </a:rPr>
              <a:t>Dijkstra is greedy and works when edge weights are non-negative.</a:t>
            </a:r>
            <a:endParaRPr lang="en-US" sz="1600" dirty="0"/>
          </a:p>
        </p:txBody>
      </p:sp>
      <p:sp>
        <p:nvSpPr>
          <p:cNvPr id="17" name="Text 11"/>
          <p:cNvSpPr/>
          <p:nvPr/>
        </p:nvSpPr>
        <p:spPr>
          <a:xfrm>
            <a:off x="558786" y="5934770"/>
            <a:ext cx="867646"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01</a:t>
            </a:r>
            <a:endParaRPr lang="en-US" sz="1700" dirty="0"/>
          </a:p>
        </p:txBody>
      </p:sp>
      <p:sp>
        <p:nvSpPr>
          <p:cNvPr id="18" name="Shape 12"/>
          <p:cNvSpPr/>
          <p:nvPr/>
        </p:nvSpPr>
        <p:spPr>
          <a:xfrm>
            <a:off x="558786" y="6236990"/>
            <a:ext cx="2092967" cy="19050"/>
          </a:xfrm>
          <a:prstGeom prst="rect">
            <a:avLst/>
          </a:prstGeom>
          <a:solidFill>
            <a:srgbClr val="F4C45A"/>
          </a:solidFill>
          <a:ln/>
        </p:spPr>
      </p:sp>
      <p:sp>
        <p:nvSpPr>
          <p:cNvPr id="19" name="Text 13"/>
          <p:cNvSpPr/>
          <p:nvPr/>
        </p:nvSpPr>
        <p:spPr>
          <a:xfrm>
            <a:off x="558786" y="6396950"/>
            <a:ext cx="2092967" cy="297160"/>
          </a:xfrm>
          <a:prstGeom prst="rect">
            <a:avLst/>
          </a:prstGeom>
          <a:noFill/>
          <a:ln/>
        </p:spPr>
        <p:txBody>
          <a:bodyPr wrap="none" lIns="0" tIns="0" rIns="0" bIns="0" rtlCol="0" anchor="t"/>
          <a:lstStyle/>
          <a:p>
            <a:pPr marL="0" indent="0" algn="l">
              <a:lnSpc>
                <a:spcPct val="108000"/>
              </a:lnSpc>
              <a:buNone/>
            </a:pPr>
            <a:r>
              <a:rPr lang="en-US" sz="1800" dirty="0">
                <a:solidFill>
                  <a:srgbClr val="F4C45A"/>
                </a:solidFill>
                <a:latin typeface="Lexend" pitchFamily="34" charset="0"/>
                <a:ea typeface="Lexend" pitchFamily="34" charset="-122"/>
                <a:cs typeface="Lexend" pitchFamily="34" charset="-120"/>
              </a:rPr>
              <a:t>Start</a:t>
            </a:r>
            <a:endParaRPr lang="en-US" sz="1800" dirty="0"/>
          </a:p>
        </p:txBody>
      </p:sp>
      <p:sp>
        <p:nvSpPr>
          <p:cNvPr id="20" name="Text 14"/>
          <p:cNvSpPr/>
          <p:nvPr/>
        </p:nvSpPr>
        <p:spPr>
          <a:xfrm>
            <a:off x="2804050" y="5934770"/>
            <a:ext cx="868936"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02</a:t>
            </a:r>
            <a:endParaRPr lang="en-US" sz="1700" dirty="0"/>
          </a:p>
        </p:txBody>
      </p:sp>
      <p:sp>
        <p:nvSpPr>
          <p:cNvPr id="21" name="Shape 15"/>
          <p:cNvSpPr/>
          <p:nvPr/>
        </p:nvSpPr>
        <p:spPr>
          <a:xfrm>
            <a:off x="2804050" y="6236990"/>
            <a:ext cx="2092967" cy="19050"/>
          </a:xfrm>
          <a:prstGeom prst="rect">
            <a:avLst/>
          </a:prstGeom>
          <a:solidFill>
            <a:srgbClr val="F4C45A"/>
          </a:solidFill>
          <a:ln/>
        </p:spPr>
      </p:sp>
      <p:sp>
        <p:nvSpPr>
          <p:cNvPr id="22" name="Text 16"/>
          <p:cNvSpPr/>
          <p:nvPr/>
        </p:nvSpPr>
        <p:spPr>
          <a:xfrm>
            <a:off x="2804050" y="6396950"/>
            <a:ext cx="2092967" cy="297160"/>
          </a:xfrm>
          <a:prstGeom prst="rect">
            <a:avLst/>
          </a:prstGeom>
          <a:noFill/>
          <a:ln/>
        </p:spPr>
        <p:txBody>
          <a:bodyPr wrap="none" lIns="0" tIns="0" rIns="0" bIns="0" rtlCol="0" anchor="t"/>
          <a:lstStyle/>
          <a:p>
            <a:pPr marL="0" indent="0" algn="l">
              <a:lnSpc>
                <a:spcPct val="108000"/>
              </a:lnSpc>
              <a:buNone/>
            </a:pPr>
            <a:r>
              <a:rPr lang="en-US" sz="1800" dirty="0">
                <a:solidFill>
                  <a:srgbClr val="F4C45A"/>
                </a:solidFill>
                <a:latin typeface="Lexend" pitchFamily="34" charset="0"/>
                <a:ea typeface="Lexend" pitchFamily="34" charset="-122"/>
                <a:cs typeface="Lexend" pitchFamily="34" charset="-120"/>
              </a:rPr>
              <a:t>Explore</a:t>
            </a:r>
            <a:endParaRPr lang="en-US" sz="1800" dirty="0"/>
          </a:p>
        </p:txBody>
      </p:sp>
      <p:sp>
        <p:nvSpPr>
          <p:cNvPr id="23" name="Text 17"/>
          <p:cNvSpPr/>
          <p:nvPr/>
        </p:nvSpPr>
        <p:spPr>
          <a:xfrm>
            <a:off x="5049314" y="5934770"/>
            <a:ext cx="873897"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03</a:t>
            </a:r>
            <a:endParaRPr lang="en-US" sz="1700" dirty="0"/>
          </a:p>
        </p:txBody>
      </p:sp>
      <p:sp>
        <p:nvSpPr>
          <p:cNvPr id="24" name="Shape 18"/>
          <p:cNvSpPr/>
          <p:nvPr/>
        </p:nvSpPr>
        <p:spPr>
          <a:xfrm>
            <a:off x="5049314" y="6236990"/>
            <a:ext cx="2092967" cy="19050"/>
          </a:xfrm>
          <a:prstGeom prst="rect">
            <a:avLst/>
          </a:prstGeom>
          <a:solidFill>
            <a:srgbClr val="F4C45A"/>
          </a:solidFill>
          <a:ln/>
        </p:spPr>
      </p:sp>
      <p:sp>
        <p:nvSpPr>
          <p:cNvPr id="25" name="Text 19"/>
          <p:cNvSpPr/>
          <p:nvPr/>
        </p:nvSpPr>
        <p:spPr>
          <a:xfrm>
            <a:off x="5049314" y="6396950"/>
            <a:ext cx="2092967" cy="297160"/>
          </a:xfrm>
          <a:prstGeom prst="rect">
            <a:avLst/>
          </a:prstGeom>
          <a:noFill/>
          <a:ln/>
        </p:spPr>
        <p:txBody>
          <a:bodyPr wrap="none" lIns="0" tIns="0" rIns="0" bIns="0" rtlCol="0" anchor="t"/>
          <a:lstStyle/>
          <a:p>
            <a:pPr marL="0" indent="0" algn="l">
              <a:lnSpc>
                <a:spcPct val="108000"/>
              </a:lnSpc>
              <a:buNone/>
            </a:pPr>
            <a:r>
              <a:rPr lang="en-US" sz="1800" dirty="0">
                <a:solidFill>
                  <a:srgbClr val="F4C45A"/>
                </a:solidFill>
                <a:latin typeface="Lexend" pitchFamily="34" charset="0"/>
                <a:ea typeface="Lexend" pitchFamily="34" charset="-122"/>
                <a:cs typeface="Lexend" pitchFamily="34" charset="-120"/>
              </a:rPr>
              <a:t>Select minimum</a:t>
            </a:r>
            <a:endParaRPr lang="en-US" sz="1800" dirty="0"/>
          </a:p>
        </p:txBody>
      </p:sp>
      <p:sp>
        <p:nvSpPr>
          <p:cNvPr id="26" name="Text 20"/>
          <p:cNvSpPr/>
          <p:nvPr/>
        </p:nvSpPr>
        <p:spPr>
          <a:xfrm>
            <a:off x="7294578" y="5934770"/>
            <a:ext cx="890466"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04</a:t>
            </a:r>
            <a:endParaRPr lang="en-US" sz="1700" dirty="0"/>
          </a:p>
        </p:txBody>
      </p:sp>
      <p:sp>
        <p:nvSpPr>
          <p:cNvPr id="27" name="Shape 21"/>
          <p:cNvSpPr/>
          <p:nvPr/>
        </p:nvSpPr>
        <p:spPr>
          <a:xfrm>
            <a:off x="7294578" y="6236990"/>
            <a:ext cx="2092967" cy="19050"/>
          </a:xfrm>
          <a:prstGeom prst="rect">
            <a:avLst/>
          </a:prstGeom>
          <a:solidFill>
            <a:srgbClr val="F4C45A"/>
          </a:solidFill>
          <a:ln/>
        </p:spPr>
      </p:sp>
      <p:sp>
        <p:nvSpPr>
          <p:cNvPr id="28" name="Text 22"/>
          <p:cNvSpPr/>
          <p:nvPr/>
        </p:nvSpPr>
        <p:spPr>
          <a:xfrm>
            <a:off x="7294578" y="6396950"/>
            <a:ext cx="2092967" cy="297160"/>
          </a:xfrm>
          <a:prstGeom prst="rect">
            <a:avLst/>
          </a:prstGeom>
          <a:noFill/>
          <a:ln/>
        </p:spPr>
        <p:txBody>
          <a:bodyPr wrap="none" lIns="0" tIns="0" rIns="0" bIns="0" rtlCol="0" anchor="t"/>
          <a:lstStyle/>
          <a:p>
            <a:pPr marL="0" indent="0" algn="l">
              <a:lnSpc>
                <a:spcPct val="108000"/>
              </a:lnSpc>
              <a:buNone/>
            </a:pPr>
            <a:r>
              <a:rPr lang="en-US" sz="1800" dirty="0">
                <a:solidFill>
                  <a:srgbClr val="F4C45A"/>
                </a:solidFill>
                <a:latin typeface="Lexend" pitchFamily="34" charset="0"/>
                <a:ea typeface="Lexend" pitchFamily="34" charset="-122"/>
                <a:cs typeface="Lexend" pitchFamily="34" charset="-120"/>
              </a:rPr>
              <a:t>Update</a:t>
            </a:r>
            <a:endParaRPr lang="en-US" sz="1800" dirty="0"/>
          </a:p>
        </p:txBody>
      </p:sp>
      <p:sp>
        <p:nvSpPr>
          <p:cNvPr id="29" name="Text 23"/>
          <p:cNvSpPr/>
          <p:nvPr/>
        </p:nvSpPr>
        <p:spPr>
          <a:xfrm>
            <a:off x="9539843" y="5934770"/>
            <a:ext cx="877369"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05</a:t>
            </a:r>
            <a:endParaRPr lang="en-US" sz="1700" dirty="0"/>
          </a:p>
        </p:txBody>
      </p:sp>
      <p:sp>
        <p:nvSpPr>
          <p:cNvPr id="30" name="Shape 24"/>
          <p:cNvSpPr/>
          <p:nvPr/>
        </p:nvSpPr>
        <p:spPr>
          <a:xfrm>
            <a:off x="9539843" y="6236990"/>
            <a:ext cx="2093066" cy="19050"/>
          </a:xfrm>
          <a:prstGeom prst="rect">
            <a:avLst/>
          </a:prstGeom>
          <a:solidFill>
            <a:srgbClr val="F4C45A"/>
          </a:solidFill>
          <a:ln/>
        </p:spPr>
      </p:sp>
      <p:sp>
        <p:nvSpPr>
          <p:cNvPr id="31" name="Text 25"/>
          <p:cNvSpPr/>
          <p:nvPr/>
        </p:nvSpPr>
        <p:spPr>
          <a:xfrm>
            <a:off x="9539843" y="6396950"/>
            <a:ext cx="2093066" cy="297160"/>
          </a:xfrm>
          <a:prstGeom prst="rect">
            <a:avLst/>
          </a:prstGeom>
          <a:noFill/>
          <a:ln/>
        </p:spPr>
        <p:txBody>
          <a:bodyPr wrap="none" lIns="0" tIns="0" rIns="0" bIns="0" rtlCol="0" anchor="t"/>
          <a:lstStyle/>
          <a:p>
            <a:pPr marL="0" indent="0" algn="l">
              <a:lnSpc>
                <a:spcPct val="108000"/>
              </a:lnSpc>
              <a:buNone/>
            </a:pPr>
            <a:r>
              <a:rPr lang="en-US" sz="1800" dirty="0">
                <a:solidFill>
                  <a:srgbClr val="F4C45A"/>
                </a:solidFill>
                <a:latin typeface="Lexend" pitchFamily="34" charset="0"/>
                <a:ea typeface="Lexend" pitchFamily="34" charset="-122"/>
                <a:cs typeface="Lexend" pitchFamily="34" charset="-120"/>
              </a:rPr>
              <a:t>Repeat</a:t>
            </a:r>
            <a:endParaRPr lang="en-US" sz="1800" dirty="0"/>
          </a:p>
        </p:txBody>
      </p:sp>
      <p:pic>
        <p:nvPicPr>
          <p:cNvPr id="32" name="Image 4" descr="preencoded.png"/>
          <p:cNvPicPr>
            <a:picLocks noChangeAspect="1"/>
          </p:cNvPicPr>
          <p:nvPr/>
        </p:nvPicPr>
        <p:blipFill>
          <a:blip r:embed="rId5"/>
          <a:stretch>
            <a:fillRect/>
          </a:stretch>
        </p:blipFill>
        <p:spPr>
          <a:xfrm>
            <a:off x="0" y="0"/>
            <a:ext cx="12191695" cy="59134"/>
          </a:xfrm>
          <a:prstGeom prst="rect">
            <a:avLst/>
          </a:prstGeom>
        </p:spPr>
      </p:pic>
      <p:sp>
        <p:nvSpPr>
          <p:cNvPr id="33" name="Oval 32"/>
          <p:cNvSpPr/>
          <p:nvPr/>
        </p:nvSpPr>
        <p:spPr>
          <a:xfrm>
            <a:off x="4437775" y="3524190"/>
            <a:ext cx="552816" cy="554037"/>
          </a:xfrm>
          <a:prstGeom prst="ellipse">
            <a:avLst/>
          </a:prstGeom>
          <a:solidFill>
            <a:srgbClr val="0E1150"/>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4460788" y="1737737"/>
            <a:ext cx="552816" cy="554037"/>
          </a:xfrm>
          <a:prstGeom prst="ellipse">
            <a:avLst/>
          </a:prstGeom>
          <a:solidFill>
            <a:srgbClr val="0E1150"/>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370395" y="2648457"/>
            <a:ext cx="544484" cy="514430"/>
          </a:xfrm>
          <a:prstGeom prst="ellipse">
            <a:avLst/>
          </a:prstGeom>
          <a:solidFill>
            <a:srgbClr val="0E1150"/>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2455422" y="2704960"/>
            <a:ext cx="383016" cy="365290"/>
          </a:xfrm>
          <a:prstGeom prst="ellipse">
            <a:avLst/>
          </a:prstGeom>
          <a:solidFill>
            <a:srgbClr val="0E1150"/>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1728376" y="1824058"/>
            <a:ext cx="383016" cy="365290"/>
          </a:xfrm>
          <a:prstGeom prst="ellipse">
            <a:avLst/>
          </a:prstGeom>
          <a:solidFill>
            <a:srgbClr val="0E1150"/>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1728376" y="3581818"/>
            <a:ext cx="383016" cy="365290"/>
          </a:xfrm>
          <a:prstGeom prst="ellipse">
            <a:avLst/>
          </a:prstGeom>
          <a:solidFill>
            <a:srgbClr val="0E1150"/>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1705737" y="2701855"/>
            <a:ext cx="444373" cy="438735"/>
          </a:xfrm>
          <a:prstGeom prst="rect">
            <a:avLst/>
          </a:prstGeom>
          <a:solidFill>
            <a:schemeClr val="tx1"/>
          </a:solidFill>
        </p:spPr>
        <p:txBody>
          <a:bodyPr wrap="square" rtlCol="0">
            <a:spAutoFit/>
          </a:bodyPr>
          <a:lstStyle/>
          <a:p>
            <a:endParaRPr lang="en-US" dirty="0"/>
          </a:p>
        </p:txBody>
      </p:sp>
      <p:sp>
        <p:nvSpPr>
          <p:cNvPr id="46" name="TextBox 45"/>
          <p:cNvSpPr txBox="1"/>
          <p:nvPr/>
        </p:nvSpPr>
        <p:spPr>
          <a:xfrm>
            <a:off x="4964720" y="2215171"/>
            <a:ext cx="379658" cy="369332"/>
          </a:xfrm>
          <a:prstGeom prst="rect">
            <a:avLst/>
          </a:prstGeom>
          <a:solidFill>
            <a:srgbClr val="262D92"/>
          </a:solidFill>
        </p:spPr>
        <p:txBody>
          <a:bodyPr wrap="square" rtlCol="0">
            <a:spAutoFit/>
          </a:bodyPr>
          <a:lstStyle/>
          <a:p>
            <a:endParaRPr lang="en-US" dirty="0"/>
          </a:p>
        </p:txBody>
      </p:sp>
      <p:cxnSp>
        <p:nvCxnSpPr>
          <p:cNvPr id="37" name="Straight Connector 36"/>
          <p:cNvCxnSpPr/>
          <p:nvPr/>
        </p:nvCxnSpPr>
        <p:spPr>
          <a:xfrm>
            <a:off x="4737197" y="2318257"/>
            <a:ext cx="0" cy="1205933"/>
          </a:xfrm>
          <a:prstGeom prst="line">
            <a:avLst/>
          </a:prstGeom>
          <a:ln w="38100">
            <a:solidFill>
              <a:srgbClr val="8F95D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948848" y="2199454"/>
            <a:ext cx="477971" cy="501716"/>
          </a:xfrm>
          <a:prstGeom prst="line">
            <a:avLst/>
          </a:prstGeom>
          <a:ln w="38100">
            <a:solidFill>
              <a:srgbClr val="8F95D3"/>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4897017" y="2685445"/>
            <a:ext cx="379658" cy="369332"/>
          </a:xfrm>
          <a:prstGeom prst="rect">
            <a:avLst/>
          </a:prstGeom>
          <a:solidFill>
            <a:srgbClr val="262D92"/>
          </a:solidFill>
        </p:spPr>
        <p:txBody>
          <a:bodyPr wrap="square" rtlCol="0">
            <a:spAutoFit/>
          </a:bodyPr>
          <a:lstStyle/>
          <a:p>
            <a:endParaRPr lang="en-US" dirty="0"/>
          </a:p>
        </p:txBody>
      </p:sp>
      <p:sp>
        <p:nvSpPr>
          <p:cNvPr id="51" name="TextBox 50"/>
          <p:cNvSpPr txBox="1"/>
          <p:nvPr/>
        </p:nvSpPr>
        <p:spPr>
          <a:xfrm>
            <a:off x="4875872" y="3155719"/>
            <a:ext cx="379658" cy="369332"/>
          </a:xfrm>
          <a:prstGeom prst="rect">
            <a:avLst/>
          </a:prstGeom>
          <a:solidFill>
            <a:srgbClr val="262D92"/>
          </a:solidFill>
        </p:spPr>
        <p:txBody>
          <a:bodyPr wrap="square" rtlCol="0">
            <a:spAutoFit/>
          </a:bodyPr>
          <a:lstStyle/>
          <a:p>
            <a:endParaRPr lang="en-US" dirty="0"/>
          </a:p>
        </p:txBody>
      </p:sp>
      <p:cxnSp>
        <p:nvCxnSpPr>
          <p:cNvPr id="52" name="Straight Connector 51"/>
          <p:cNvCxnSpPr/>
          <p:nvPr/>
        </p:nvCxnSpPr>
        <p:spPr>
          <a:xfrm flipV="1">
            <a:off x="4948848" y="3105407"/>
            <a:ext cx="485278" cy="501996"/>
          </a:xfrm>
          <a:prstGeom prst="line">
            <a:avLst/>
          </a:prstGeom>
          <a:ln w="38100">
            <a:solidFill>
              <a:srgbClr val="8F95D3"/>
            </a:solidFill>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5200091" y="2173309"/>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4</a:t>
            </a:r>
          </a:p>
        </p:txBody>
      </p:sp>
      <p:sp>
        <p:nvSpPr>
          <p:cNvPr id="60" name="TextBox 59"/>
          <p:cNvSpPr txBox="1"/>
          <p:nvPr/>
        </p:nvSpPr>
        <p:spPr>
          <a:xfrm>
            <a:off x="4750230" y="2720517"/>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1</a:t>
            </a:r>
          </a:p>
        </p:txBody>
      </p:sp>
      <p:sp>
        <p:nvSpPr>
          <p:cNvPr id="61" name="TextBox 60"/>
          <p:cNvSpPr txBox="1"/>
          <p:nvPr/>
        </p:nvSpPr>
        <p:spPr>
          <a:xfrm>
            <a:off x="5190792" y="3371162"/>
            <a:ext cx="480722" cy="307777"/>
          </a:xfrm>
          <a:prstGeom prst="rect">
            <a:avLst/>
          </a:prstGeom>
          <a:noFill/>
        </p:spPr>
        <p:txBody>
          <a:bodyPr wrap="square" rtlCol="0">
            <a:spAutoFit/>
          </a:bodyPr>
          <a:lstStyle/>
          <a:p>
            <a:r>
              <a:rPr lang="en-US" sz="1400" dirty="0">
                <a:solidFill>
                  <a:schemeClr val="bg1"/>
                </a:solidFill>
                <a:latin typeface="Bahnschrift" panose="020B0502040204020203" pitchFamily="34" charset="0"/>
              </a:rPr>
              <a:t>2</a:t>
            </a:r>
          </a:p>
        </p:txBody>
      </p:sp>
      <p:sp>
        <p:nvSpPr>
          <p:cNvPr id="62" name="TextBox 61"/>
          <p:cNvSpPr txBox="1"/>
          <p:nvPr/>
        </p:nvSpPr>
        <p:spPr>
          <a:xfrm>
            <a:off x="5484946" y="2719191"/>
            <a:ext cx="329695" cy="369332"/>
          </a:xfrm>
          <a:prstGeom prst="rect">
            <a:avLst/>
          </a:prstGeom>
          <a:noFill/>
          <a:ln>
            <a:noFill/>
          </a:ln>
        </p:spPr>
        <p:txBody>
          <a:bodyPr wrap="square" rtlCol="0">
            <a:spAutoFit/>
          </a:bodyPr>
          <a:lstStyle/>
          <a:p>
            <a:r>
              <a:rPr lang="en-US" dirty="0">
                <a:solidFill>
                  <a:schemeClr val="bg1"/>
                </a:solidFill>
                <a:latin typeface="Bahnschrift" panose="020B0502040204020203" pitchFamily="34" charset="0"/>
              </a:rPr>
              <a:t>A</a:t>
            </a:r>
          </a:p>
        </p:txBody>
      </p:sp>
      <p:sp>
        <p:nvSpPr>
          <p:cNvPr id="63" name="Rectangle 62"/>
          <p:cNvSpPr/>
          <p:nvPr/>
        </p:nvSpPr>
        <p:spPr>
          <a:xfrm>
            <a:off x="4581787" y="1826562"/>
            <a:ext cx="333746" cy="369332"/>
          </a:xfrm>
          <a:prstGeom prst="rect">
            <a:avLst/>
          </a:prstGeom>
        </p:spPr>
        <p:txBody>
          <a:bodyPr wrap="none">
            <a:spAutoFit/>
          </a:bodyPr>
          <a:lstStyle/>
          <a:p>
            <a:r>
              <a:rPr lang="en-US" dirty="0">
                <a:solidFill>
                  <a:schemeClr val="bg1"/>
                </a:solidFill>
                <a:latin typeface="Bahnschrift" panose="020B0502040204020203" pitchFamily="34" charset="0"/>
              </a:rPr>
              <a:t>B</a:t>
            </a:r>
          </a:p>
        </p:txBody>
      </p:sp>
      <p:sp>
        <p:nvSpPr>
          <p:cNvPr id="64" name="Rectangle 63"/>
          <p:cNvSpPr/>
          <p:nvPr/>
        </p:nvSpPr>
        <p:spPr>
          <a:xfrm>
            <a:off x="4563176" y="3605414"/>
            <a:ext cx="327334" cy="369332"/>
          </a:xfrm>
          <a:prstGeom prst="rect">
            <a:avLst/>
          </a:prstGeom>
        </p:spPr>
        <p:txBody>
          <a:bodyPr wrap="none">
            <a:spAutoFit/>
          </a:bodyPr>
          <a:lstStyle/>
          <a:p>
            <a:r>
              <a:rPr lang="en-US" dirty="0">
                <a:solidFill>
                  <a:schemeClr val="bg1"/>
                </a:solidFill>
                <a:latin typeface="Bahnschrift" panose="020B0502040204020203" pitchFamily="34" charset="0"/>
              </a:rPr>
              <a:t>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8786" y="2529403"/>
            <a:ext cx="3439133" cy="740569"/>
          </a:xfrm>
          <a:prstGeom prst="rect">
            <a:avLst/>
          </a:prstGeom>
          <a:noFill/>
          <a:ln/>
        </p:spPr>
        <p:txBody>
          <a:bodyPr wrap="square" lIns="0" tIns="0" rIns="0" bIns="0" rtlCol="0" anchor="t">
            <a:normAutofit lnSpcReduction="10000"/>
          </a:bodyPr>
          <a:lstStyle/>
          <a:p>
            <a:pPr marL="0" indent="0" algn="l">
              <a:lnSpc>
                <a:spcPct val="90000"/>
              </a:lnSpc>
              <a:buNone/>
            </a:pPr>
            <a:r>
              <a:rPr lang="en-US" sz="2700" kern="100" spc="-27" dirty="0">
                <a:solidFill>
                  <a:srgbClr val="F4C45A"/>
                </a:solidFill>
                <a:latin typeface="Krona One" pitchFamily="34" charset="0"/>
                <a:ea typeface="Krona One" pitchFamily="34" charset="-122"/>
                <a:cs typeface="Krona One" pitchFamily="34" charset="-120"/>
              </a:rPr>
              <a:t>Step 1: Initialize distances</a:t>
            </a:r>
            <a:endParaRPr lang="en-US" sz="2700" dirty="0"/>
          </a:p>
        </p:txBody>
      </p:sp>
      <p:sp>
        <p:nvSpPr>
          <p:cNvPr id="3" name="Text 1"/>
          <p:cNvSpPr/>
          <p:nvPr/>
        </p:nvSpPr>
        <p:spPr>
          <a:xfrm>
            <a:off x="558786" y="3464473"/>
            <a:ext cx="3439133" cy="919460"/>
          </a:xfrm>
          <a:prstGeom prst="rect">
            <a:avLst/>
          </a:prstGeom>
          <a:noFill/>
          <a:ln/>
        </p:spPr>
        <p:txBody>
          <a:bodyPr wrap="square" lIns="0" tIns="0" rIns="0" bIns="0" rtlCol="0" anchor="t">
            <a:normAutofit/>
          </a:bodyPr>
          <a:lstStyle/>
          <a:p>
            <a:pPr marL="0" indent="0" algn="l">
              <a:lnSpc>
                <a:spcPct val="118000"/>
              </a:lnSpc>
              <a:buNone/>
            </a:pPr>
            <a:r>
              <a:rPr lang="en-US" sz="1700" dirty="0">
                <a:solidFill>
                  <a:srgbClr val="EEF0FF"/>
                </a:solidFill>
                <a:latin typeface="Lexend" pitchFamily="34" charset="0"/>
                <a:ea typeface="Lexend" pitchFamily="34" charset="-122"/>
                <a:cs typeface="Lexend" pitchFamily="34" charset="-120"/>
              </a:rPr>
              <a:t>Start at College. Set the source to 0 and every other vertex to infinity.</a:t>
            </a:r>
            <a:endParaRPr lang="en-US" sz="1700" dirty="0"/>
          </a:p>
        </p:txBody>
      </p:sp>
      <p:sp>
        <p:nvSpPr>
          <p:cNvPr id="4" name="Shape 2"/>
          <p:cNvSpPr/>
          <p:nvPr/>
        </p:nvSpPr>
        <p:spPr>
          <a:xfrm>
            <a:off x="4861399" y="0"/>
            <a:ext cx="7330296" cy="6858000"/>
          </a:xfrm>
          <a:prstGeom prst="rect">
            <a:avLst/>
          </a:prstGeom>
          <a:solidFill>
            <a:srgbClr val="262D92"/>
          </a:solidFill>
          <a:ln/>
          <a:effectLst>
            <a:outerShdw blurRad="328930" dist="127" dir="16200000" algn="bl" rotWithShape="0">
              <a:srgbClr val="F4C45A">
                <a:alpha val="20000"/>
              </a:srgbClr>
            </a:outerShdw>
          </a:effectLst>
        </p:spPr>
      </p:sp>
      <p:sp>
        <p:nvSpPr>
          <p:cNvPr id="5" name="Text 3"/>
          <p:cNvSpPr/>
          <p:nvPr/>
        </p:nvSpPr>
        <p:spPr>
          <a:xfrm>
            <a:off x="5141097" y="963530"/>
            <a:ext cx="7050903" cy="213320"/>
          </a:xfrm>
          <a:prstGeom prst="rect">
            <a:avLst/>
          </a:prstGeom>
          <a:noFill/>
          <a:ln/>
        </p:spPr>
        <p:txBody>
          <a:bodyPr wrap="none" lIns="0" tIns="0" rIns="0" bIns="0" rtlCol="0" anchor="t"/>
          <a:lstStyle/>
          <a:p>
            <a:pPr marL="285750" indent="-285750" algn="l">
              <a:lnSpc>
                <a:spcPct val="100000"/>
              </a:lnSpc>
              <a:buFont typeface="Courier New" panose="02070309020205020404" pitchFamily="49" charset="0"/>
              <a:buChar char="o"/>
            </a:pPr>
            <a:r>
              <a:rPr lang="en-US" kern="100" spc="42" dirty="0">
                <a:solidFill>
                  <a:srgbClr val="EEF0FF"/>
                </a:solidFill>
                <a:latin typeface="Azeret Mono Medium" pitchFamily="34" charset="0"/>
                <a:ea typeface="Azeret Mono Medium" pitchFamily="34" charset="-122"/>
                <a:cs typeface="Azeret Mono Medium" pitchFamily="34" charset="-120"/>
              </a:rPr>
              <a:t>DISTANCE TABLE · INITIAL STATE</a:t>
            </a:r>
            <a:endParaRPr lang="en-US"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140792" y="1713309"/>
          <a:ext cx="6771510" cy="3430005"/>
        </p:xfrm>
        <a:graphic>
          <a:graphicData uri="http://schemas.openxmlformats.org/drawingml/2006/table">
            <a:tbl>
              <a:tblPr/>
              <a:tblGrid>
                <a:gridCol w="3385755">
                  <a:extLst>
                    <a:ext uri="{9D8B030D-6E8A-4147-A177-3AD203B41FA5}">
                      <a16:colId xmlns:a16="http://schemas.microsoft.com/office/drawing/2014/main" val="20000"/>
                    </a:ext>
                  </a:extLst>
                </a:gridCol>
                <a:gridCol w="3385755">
                  <a:extLst>
                    <a:ext uri="{9D8B030D-6E8A-4147-A177-3AD203B41FA5}">
                      <a16:colId xmlns:a16="http://schemas.microsoft.com/office/drawing/2014/main" val="20001"/>
                    </a:ext>
                  </a:extLst>
                </a:gridCol>
              </a:tblGrid>
              <a:tr h="491815">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VERTEX</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262D92"/>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DISTANCE</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262D92"/>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extLst>
                  <a:ext uri="{0D108BD9-81ED-4DB2-BD59-A6C34878D82A}">
                    <a16:rowId xmlns:a16="http://schemas.microsoft.com/office/drawing/2014/main" val="10000"/>
                  </a:ext>
                </a:extLst>
              </a:tr>
              <a:tr h="491815">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College</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0 km</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extLst>
                  <a:ext uri="{0D108BD9-81ED-4DB2-BD59-A6C34878D82A}">
                    <a16:rowId xmlns:a16="http://schemas.microsoft.com/office/drawing/2014/main" val="10001"/>
                  </a:ext>
                </a:extLst>
              </a:tr>
              <a:tr h="491815">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Library</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extLst>
                  <a:ext uri="{0D108BD9-81ED-4DB2-BD59-A6C34878D82A}">
                    <a16:rowId xmlns:a16="http://schemas.microsoft.com/office/drawing/2014/main" val="10002"/>
                  </a:ext>
                </a:extLst>
              </a:tr>
              <a:tr h="491815">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Mall</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extLst>
                  <a:ext uri="{0D108BD9-81ED-4DB2-BD59-A6C34878D82A}">
                    <a16:rowId xmlns:a16="http://schemas.microsoft.com/office/drawing/2014/main" val="10003"/>
                  </a:ext>
                </a:extLst>
              </a:tr>
              <a:tr h="491815">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Hospital</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extLst>
                  <a:ext uri="{0D108BD9-81ED-4DB2-BD59-A6C34878D82A}">
                    <a16:rowId xmlns:a16="http://schemas.microsoft.com/office/drawing/2014/main" val="10004"/>
                  </a:ext>
                </a:extLst>
              </a:tr>
              <a:tr h="491815">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Railway Station</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4C54BA"/>
                      </a:solidFill>
                      <a:prstDash val="solid"/>
                      <a:round/>
                      <a:headEnd type="none" w="med" len="med"/>
                      <a:tailEnd type="none" w="med" len="med"/>
                    </a:lnB>
                    <a:solidFill>
                      <a:srgbClr val="262D92"/>
                    </a:solidFill>
                  </a:tcPr>
                </a:tc>
                <a:extLst>
                  <a:ext uri="{0D108BD9-81ED-4DB2-BD59-A6C34878D82A}">
                    <a16:rowId xmlns:a16="http://schemas.microsoft.com/office/drawing/2014/main" val="10005"/>
                  </a:ext>
                </a:extLst>
              </a:tr>
              <a:tr h="479115">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Airport</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262D92"/>
                      </a:solidFill>
                      <a:prstDash val="solid"/>
                      <a:round/>
                      <a:headEnd type="none" w="med" len="med"/>
                      <a:tailEnd type="none" w="med" len="med"/>
                    </a:lnB>
                    <a:solidFill>
                      <a:srgbClr val="262D92"/>
                    </a:solidFill>
                  </a:tcPr>
                </a:tc>
                <a:tc>
                  <a:txBody>
                    <a:bodyPr/>
                    <a:lstStyle/>
                    <a:p>
                      <a:pPr marL="0" indent="0" algn="l">
                        <a:buNone/>
                      </a:pPr>
                      <a:r>
                        <a:rPr lang="en-US" sz="1700" dirty="0">
                          <a:solidFill>
                            <a:srgbClr val="EEF0FF"/>
                          </a:solidFill>
                          <a:latin typeface="Lexend" pitchFamily="34" charset="0"/>
                          <a:ea typeface="Lexend" pitchFamily="34" charset="-122"/>
                          <a:cs typeface="Lexend" pitchFamily="34" charset="-120"/>
                        </a:rPr>
                        <a:t>∞</a:t>
                      </a:r>
                      <a:endParaRPr lang="en-US" sz="1700" dirty="0">
                        <a:latin typeface="Lexend" charset="0"/>
                        <a:ea typeface="Lexend" charset="0"/>
                        <a:cs typeface="Lexend" charset="0"/>
                      </a:endParaRPr>
                    </a:p>
                  </a:txBody>
                  <a:tcPr marL="161921" marR="161921" marT="86358" marB="86358" anchor="ctr">
                    <a:lnL w="12700" cap="flat" cmpd="sng" algn="ctr">
                      <a:solidFill>
                        <a:srgbClr val="262D92"/>
                      </a:solidFill>
                      <a:prstDash val="solid"/>
                      <a:round/>
                      <a:headEnd type="none" w="med" len="med"/>
                      <a:tailEnd type="none" w="med" len="med"/>
                    </a:lnL>
                    <a:lnR w="12700" cap="flat" cmpd="sng" algn="ctr">
                      <a:solidFill>
                        <a:srgbClr val="262D92"/>
                      </a:solidFill>
                      <a:prstDash val="solid"/>
                      <a:round/>
                      <a:headEnd type="none" w="med" len="med"/>
                      <a:tailEnd type="none" w="med" len="med"/>
                    </a:lnR>
                    <a:lnT w="12700" cap="flat" cmpd="sng" algn="ctr">
                      <a:solidFill>
                        <a:srgbClr val="4C54BA"/>
                      </a:solidFill>
                      <a:prstDash val="solid"/>
                      <a:round/>
                      <a:headEnd type="none" w="med" len="med"/>
                      <a:tailEnd type="none" w="med" len="med"/>
                    </a:lnT>
                    <a:lnB w="12700" cap="flat" cmpd="sng" algn="ctr">
                      <a:solidFill>
                        <a:srgbClr val="262D92"/>
                      </a:solidFill>
                      <a:prstDash val="solid"/>
                      <a:round/>
                      <a:headEnd type="none" w="med" len="med"/>
                      <a:tailEnd type="none" w="med" len="med"/>
                    </a:lnB>
                    <a:solidFill>
                      <a:srgbClr val="262D92"/>
                    </a:solidFill>
                  </a:tcPr>
                </a:tc>
                <a:extLst>
                  <a:ext uri="{0D108BD9-81ED-4DB2-BD59-A6C34878D82A}">
                    <a16:rowId xmlns:a16="http://schemas.microsoft.com/office/drawing/2014/main" val="10006"/>
                  </a:ext>
                </a:extLst>
              </a:tr>
            </a:tbl>
          </a:graphicData>
        </a:graphic>
      </p:graphicFrame>
      <p:sp>
        <p:nvSpPr>
          <p:cNvPr id="7" name="Text 4"/>
          <p:cNvSpPr/>
          <p:nvPr/>
        </p:nvSpPr>
        <p:spPr>
          <a:xfrm>
            <a:off x="5140792" y="5540066"/>
            <a:ext cx="7050903"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EEF0FF"/>
                </a:solidFill>
                <a:latin typeface="Azeret Mono" pitchFamily="34" charset="0"/>
                <a:ea typeface="Azeret Mono" pitchFamily="34" charset="-122"/>
                <a:cs typeface="Azeret Mono" pitchFamily="34" charset="-120"/>
              </a:rPr>
              <a:t>Only the source has a known cost.</a:t>
            </a:r>
            <a:endParaRPr lang="en-US" sz="1300" dirty="0"/>
          </a:p>
        </p:txBody>
      </p:sp>
      <p:pic>
        <p:nvPicPr>
          <p:cNvPr id="8" name="Image 0" descr="preencoded.png"/>
          <p:cNvPicPr>
            <a:picLocks noChangeAspect="1"/>
          </p:cNvPicPr>
          <p:nvPr/>
        </p:nvPicPr>
        <p:blipFill>
          <a:blip r:embed="rId3"/>
          <a:stretch>
            <a:fillRect/>
          </a:stretch>
        </p:blipFill>
        <p:spPr>
          <a:xfrm>
            <a:off x="0" y="0"/>
            <a:ext cx="12191695" cy="5913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7132161" cy="6858000"/>
          </a:xfrm>
          <a:prstGeom prst="rect">
            <a:avLst/>
          </a:prstGeom>
          <a:solidFill>
            <a:srgbClr val="262D92"/>
          </a:solidFill>
          <a:ln/>
          <a:effectLst>
            <a:outerShdw blurRad="328930" dist="127" dir="16200000" algn="bl" rotWithShape="0">
              <a:srgbClr val="F4C45A">
                <a:alpha val="20000"/>
              </a:srgbClr>
            </a:outerShdw>
          </a:effectLst>
        </p:spPr>
      </p:sp>
      <p:sp>
        <p:nvSpPr>
          <p:cNvPr id="3" name="Text 1"/>
          <p:cNvSpPr/>
          <p:nvPr/>
        </p:nvSpPr>
        <p:spPr>
          <a:xfrm>
            <a:off x="380990" y="441920"/>
            <a:ext cx="6878168"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EEF0FF"/>
                </a:solidFill>
                <a:latin typeface="Azeret Mono Medium" pitchFamily="34" charset="0"/>
                <a:ea typeface="Azeret Mono Medium" pitchFamily="34" charset="-122"/>
                <a:cs typeface="Azeret Mono Medium" pitchFamily="34" charset="-120"/>
              </a:rPr>
              <a:t>STEP 2 · SELECT THE MINIMUM</a:t>
            </a:r>
            <a:endParaRPr lang="en-US" sz="1400" dirty="0"/>
          </a:p>
        </p:txBody>
      </p:sp>
      <p:pic>
        <p:nvPicPr>
          <p:cNvPr id="4" name="Image 0" descr="preencoded.png"/>
          <p:cNvPicPr>
            <a:picLocks noChangeAspect="1"/>
          </p:cNvPicPr>
          <p:nvPr/>
        </p:nvPicPr>
        <p:blipFill>
          <a:blip r:embed="rId3"/>
          <a:stretch>
            <a:fillRect/>
          </a:stretch>
        </p:blipFill>
        <p:spPr>
          <a:xfrm>
            <a:off x="253994" y="635595"/>
            <a:ext cx="6624174" cy="3886200"/>
          </a:xfrm>
          <a:prstGeom prst="rect">
            <a:avLst/>
          </a:prstGeom>
        </p:spPr>
      </p:pic>
      <p:sp>
        <p:nvSpPr>
          <p:cNvPr id="5" name="Text 2"/>
          <p:cNvSpPr/>
          <p:nvPr/>
        </p:nvSpPr>
        <p:spPr>
          <a:xfrm>
            <a:off x="253994" y="4718963"/>
            <a:ext cx="6878168" cy="214610"/>
          </a:xfrm>
          <a:prstGeom prst="rect">
            <a:avLst/>
          </a:prstGeom>
          <a:noFill/>
          <a:ln/>
        </p:spPr>
        <p:txBody>
          <a:bodyPr wrap="none" lIns="0" tIns="0" rIns="0" bIns="0" rtlCol="0" anchor="t"/>
          <a:lstStyle/>
          <a:p>
            <a:pPr marL="0" indent="0" algn="l">
              <a:lnSpc>
                <a:spcPct val="108000"/>
              </a:lnSpc>
              <a:buNone/>
            </a:pPr>
            <a:r>
              <a:rPr lang="en-US" sz="1400" kern="100" spc="13" dirty="0">
                <a:solidFill>
                  <a:srgbClr val="EEF0FF"/>
                </a:solidFill>
                <a:latin typeface="Azeret Mono" pitchFamily="34" charset="0"/>
                <a:ea typeface="Azeret Mono" pitchFamily="34" charset="-122"/>
                <a:cs typeface="Azeret Mono" pitchFamily="34" charset="-120"/>
              </a:rPr>
              <a:t>Mall is the smallest known distance: 2 km.</a:t>
            </a:r>
            <a:endParaRPr lang="en-US" sz="1400" dirty="0"/>
          </a:p>
        </p:txBody>
      </p:sp>
      <p:sp>
        <p:nvSpPr>
          <p:cNvPr id="6" name="Text 3"/>
          <p:cNvSpPr/>
          <p:nvPr/>
        </p:nvSpPr>
        <p:spPr>
          <a:xfrm>
            <a:off x="7995641" y="432117"/>
            <a:ext cx="3637268" cy="1110853"/>
          </a:xfrm>
          <a:prstGeom prst="rect">
            <a:avLst/>
          </a:prstGeom>
          <a:noFill/>
          <a:ln/>
        </p:spPr>
        <p:txBody>
          <a:bodyPr wrap="square" lIns="0" tIns="0" rIns="0" bIns="0" rtlCol="0" anchor="t">
            <a:normAutofit lnSpcReduction="10000"/>
          </a:bodyPr>
          <a:lstStyle/>
          <a:p>
            <a:pPr marL="0" indent="0" algn="l">
              <a:lnSpc>
                <a:spcPct val="90000"/>
              </a:lnSpc>
              <a:buNone/>
            </a:pPr>
            <a:r>
              <a:rPr lang="en-US" sz="2700" kern="100" spc="-27" dirty="0">
                <a:solidFill>
                  <a:srgbClr val="F4C45A"/>
                </a:solidFill>
                <a:latin typeface="Krona One" pitchFamily="34" charset="0"/>
                <a:ea typeface="Krona One" pitchFamily="34" charset="-122"/>
                <a:cs typeface="Krona One" pitchFamily="34" charset="-120"/>
              </a:rPr>
              <a:t>Step 2: Choose the smallest distance</a:t>
            </a:r>
            <a:endParaRPr lang="en-US" sz="2700" dirty="0"/>
          </a:p>
        </p:txBody>
      </p:sp>
      <p:sp>
        <p:nvSpPr>
          <p:cNvPr id="7" name="Text 4"/>
          <p:cNvSpPr/>
          <p:nvPr/>
        </p:nvSpPr>
        <p:spPr>
          <a:xfrm>
            <a:off x="7995641" y="1737471"/>
            <a:ext cx="4196054" cy="306487"/>
          </a:xfrm>
          <a:prstGeom prst="rect">
            <a:avLst/>
          </a:prstGeom>
          <a:noFill/>
          <a:ln/>
        </p:spPr>
        <p:txBody>
          <a:bodyPr wrap="none" lIns="0" tIns="0" rIns="0" bIns="0" rtlCol="0" anchor="t"/>
          <a:lstStyle/>
          <a:p>
            <a:pPr marL="0" indent="0" algn="l">
              <a:lnSpc>
                <a:spcPct val="118000"/>
              </a:lnSpc>
              <a:buNone/>
            </a:pPr>
            <a:r>
              <a:rPr lang="en-US" sz="1700" dirty="0">
                <a:solidFill>
                  <a:srgbClr val="EEF0FF"/>
                </a:solidFill>
                <a:latin typeface="Lexend" pitchFamily="34" charset="0"/>
                <a:ea typeface="Lexend" pitchFamily="34" charset="-122"/>
                <a:cs typeface="Lexend" pitchFamily="34" charset="-120"/>
              </a:rPr>
              <a:t>From College:</a:t>
            </a:r>
            <a:endParaRPr lang="en-US" sz="1700" dirty="0"/>
          </a:p>
        </p:txBody>
      </p:sp>
      <p:sp>
        <p:nvSpPr>
          <p:cNvPr id="8" name="Text 5"/>
          <p:cNvSpPr/>
          <p:nvPr/>
        </p:nvSpPr>
        <p:spPr>
          <a:xfrm>
            <a:off x="7995641" y="2233315"/>
            <a:ext cx="2546088" cy="306487"/>
          </a:xfrm>
          <a:prstGeom prst="rect">
            <a:avLst/>
          </a:prstGeom>
          <a:noFill/>
          <a:ln/>
        </p:spPr>
        <p:txBody>
          <a:bodyPr wrap="none" lIns="0" tIns="0" rIns="0" bIns="0" rtlCol="0" anchor="t"/>
          <a:lstStyle/>
          <a:p>
            <a:pPr marL="0" indent="0" algn="l">
              <a:lnSpc>
                <a:spcPct val="118000"/>
              </a:lnSpc>
              <a:buNone/>
            </a:pPr>
            <a:r>
              <a:rPr lang="en-US" sz="1700" dirty="0">
                <a:solidFill>
                  <a:srgbClr val="EEF0FF"/>
                </a:solidFill>
                <a:latin typeface="Azeret Mono" pitchFamily="34" charset="0"/>
                <a:ea typeface="Azeret Mono" pitchFamily="34" charset="-122"/>
                <a:cs typeface="Azeret Mono" pitchFamily="34" charset="-120"/>
              </a:rPr>
              <a:t>Library</a:t>
            </a:r>
            <a:endParaRPr lang="en-US" sz="1700" dirty="0"/>
          </a:p>
        </p:txBody>
      </p:sp>
      <p:sp>
        <p:nvSpPr>
          <p:cNvPr id="9" name="Text 6"/>
          <p:cNvSpPr/>
          <p:nvPr/>
        </p:nvSpPr>
        <p:spPr>
          <a:xfrm>
            <a:off x="10541728" y="2233315"/>
            <a:ext cx="1091181" cy="306487"/>
          </a:xfrm>
          <a:prstGeom prst="rect">
            <a:avLst/>
          </a:prstGeom>
          <a:noFill/>
          <a:ln/>
        </p:spPr>
        <p:txBody>
          <a:bodyPr wrap="none" lIns="0" tIns="0" rIns="0" bIns="0" rtlCol="0" anchor="t"/>
          <a:lstStyle/>
          <a:p>
            <a:pPr marL="0" indent="0" algn="r">
              <a:lnSpc>
                <a:spcPct val="118000"/>
              </a:lnSpc>
              <a:buNone/>
            </a:pPr>
            <a:r>
              <a:rPr lang="en-US" sz="1700" dirty="0">
                <a:solidFill>
                  <a:srgbClr val="F4C45A"/>
                </a:solidFill>
                <a:latin typeface="Azeret Mono" pitchFamily="34" charset="0"/>
                <a:ea typeface="Azeret Mono" pitchFamily="34" charset="-122"/>
                <a:cs typeface="Azeret Mono" pitchFamily="34" charset="-120"/>
              </a:rPr>
              <a:t>4</a:t>
            </a:r>
            <a:endParaRPr lang="en-US" sz="1700" dirty="0"/>
          </a:p>
        </p:txBody>
      </p:sp>
      <p:sp>
        <p:nvSpPr>
          <p:cNvPr id="10" name="Text 7"/>
          <p:cNvSpPr/>
          <p:nvPr/>
        </p:nvSpPr>
        <p:spPr>
          <a:xfrm>
            <a:off x="7995641" y="2539802"/>
            <a:ext cx="2546088" cy="306487"/>
          </a:xfrm>
          <a:prstGeom prst="rect">
            <a:avLst/>
          </a:prstGeom>
          <a:noFill/>
          <a:ln/>
        </p:spPr>
        <p:txBody>
          <a:bodyPr wrap="none" lIns="0" tIns="0" rIns="0" bIns="0" rtlCol="0" anchor="t"/>
          <a:lstStyle/>
          <a:p>
            <a:pPr marL="0" indent="0" algn="l">
              <a:lnSpc>
                <a:spcPct val="118000"/>
              </a:lnSpc>
              <a:buNone/>
            </a:pPr>
            <a:r>
              <a:rPr lang="en-US" sz="1700" dirty="0">
                <a:solidFill>
                  <a:srgbClr val="EEF0FF"/>
                </a:solidFill>
                <a:latin typeface="Azeret Mono" pitchFamily="34" charset="0"/>
                <a:ea typeface="Azeret Mono" pitchFamily="34" charset="-122"/>
                <a:cs typeface="Azeret Mono" pitchFamily="34" charset="-120"/>
              </a:rPr>
              <a:t>Mall</a:t>
            </a:r>
            <a:endParaRPr lang="en-US" sz="1700" dirty="0"/>
          </a:p>
        </p:txBody>
      </p:sp>
      <p:sp>
        <p:nvSpPr>
          <p:cNvPr id="11" name="Text 8"/>
          <p:cNvSpPr/>
          <p:nvPr/>
        </p:nvSpPr>
        <p:spPr>
          <a:xfrm>
            <a:off x="10541728" y="2539802"/>
            <a:ext cx="1091181" cy="306487"/>
          </a:xfrm>
          <a:prstGeom prst="rect">
            <a:avLst/>
          </a:prstGeom>
          <a:noFill/>
          <a:ln/>
        </p:spPr>
        <p:txBody>
          <a:bodyPr wrap="none" lIns="0" tIns="0" rIns="0" bIns="0" rtlCol="0" anchor="t"/>
          <a:lstStyle/>
          <a:p>
            <a:pPr marL="0" indent="0" algn="r">
              <a:lnSpc>
                <a:spcPct val="118000"/>
              </a:lnSpc>
              <a:buNone/>
            </a:pPr>
            <a:r>
              <a:rPr lang="en-US" sz="1700" dirty="0">
                <a:solidFill>
                  <a:srgbClr val="F4C45A"/>
                </a:solidFill>
                <a:latin typeface="Azeret Mono" pitchFamily="34" charset="0"/>
                <a:ea typeface="Azeret Mono" pitchFamily="34" charset="-122"/>
                <a:cs typeface="Azeret Mono" pitchFamily="34" charset="-120"/>
              </a:rPr>
              <a:t>2</a:t>
            </a:r>
            <a:endParaRPr lang="en-US" sz="1700" dirty="0"/>
          </a:p>
        </p:txBody>
      </p:sp>
      <p:sp>
        <p:nvSpPr>
          <p:cNvPr id="12" name="Shape 9"/>
          <p:cNvSpPr/>
          <p:nvPr/>
        </p:nvSpPr>
        <p:spPr>
          <a:xfrm>
            <a:off x="7995640" y="3092351"/>
            <a:ext cx="3740557" cy="45719"/>
          </a:xfrm>
          <a:prstGeom prst="roundRect">
            <a:avLst>
              <a:gd name="adj" fmla="val 49998"/>
            </a:avLst>
          </a:prstGeom>
          <a:solidFill>
            <a:srgbClr val="5B62C6"/>
          </a:solidFill>
          <a:ln/>
        </p:spPr>
      </p:sp>
      <p:sp>
        <p:nvSpPr>
          <p:cNvPr id="13" name="Text 10"/>
          <p:cNvSpPr/>
          <p:nvPr/>
        </p:nvSpPr>
        <p:spPr>
          <a:xfrm>
            <a:off x="7995640" y="3376006"/>
            <a:ext cx="3637268" cy="806648"/>
          </a:xfrm>
          <a:prstGeom prst="rect">
            <a:avLst/>
          </a:prstGeom>
          <a:noFill/>
          <a:ln/>
        </p:spPr>
        <p:txBody>
          <a:bodyPr wrap="square" lIns="0" tIns="0" rIns="0" bIns="0" rtlCol="0" anchor="t"/>
          <a:lstStyle/>
          <a:p>
            <a:pPr marL="0" indent="0" algn="l">
              <a:lnSpc>
                <a:spcPct val="118000"/>
              </a:lnSpc>
              <a:spcAft>
                <a:spcPts val="1500"/>
              </a:spcAft>
              <a:buNone/>
            </a:pPr>
            <a:r>
              <a:rPr lang="en-US" sz="1700" dirty="0">
                <a:solidFill>
                  <a:srgbClr val="EEF0FF"/>
                </a:solidFill>
                <a:latin typeface="Lexend" pitchFamily="34" charset="0"/>
                <a:ea typeface="Lexend" pitchFamily="34" charset="-122"/>
                <a:cs typeface="Lexend" pitchFamily="34" charset="-120"/>
              </a:rPr>
              <a:t>Choose Mall.</a:t>
            </a:r>
            <a:endParaRPr lang="en-US" sz="1700" dirty="0"/>
          </a:p>
          <a:p>
            <a:pPr marL="0" indent="0" algn="l">
              <a:lnSpc>
                <a:spcPct val="118000"/>
              </a:lnSpc>
              <a:buNone/>
            </a:pPr>
            <a:r>
              <a:rPr lang="en-US" sz="1700" dirty="0">
                <a:solidFill>
                  <a:srgbClr val="EEF0FF"/>
                </a:solidFill>
                <a:latin typeface="Lexend" pitchFamily="34" charset="0"/>
                <a:ea typeface="Lexend" pitchFamily="34" charset="-122"/>
                <a:cs typeface="Lexend" pitchFamily="34" charset="-120"/>
              </a:rPr>
              <a:t>Then test Mall → Library:</a:t>
            </a:r>
            <a:endParaRPr lang="en-US" sz="1700" dirty="0"/>
          </a:p>
        </p:txBody>
      </p:sp>
      <p:sp>
        <p:nvSpPr>
          <p:cNvPr id="14" name="Text 11"/>
          <p:cNvSpPr/>
          <p:nvPr/>
        </p:nvSpPr>
        <p:spPr>
          <a:xfrm>
            <a:off x="7995641" y="4375567"/>
            <a:ext cx="4196054" cy="360660"/>
          </a:xfrm>
          <a:prstGeom prst="rect">
            <a:avLst/>
          </a:prstGeom>
          <a:noFill/>
          <a:ln/>
        </p:spPr>
        <p:txBody>
          <a:bodyPr wrap="none" lIns="0" tIns="0" rIns="0" bIns="0" rtlCol="0" anchor="t"/>
          <a:lstStyle/>
          <a:p>
            <a:pPr marL="0" indent="0" algn="l">
              <a:lnSpc>
                <a:spcPct val="118000"/>
              </a:lnSpc>
              <a:buNone/>
            </a:pPr>
            <a:r>
              <a:rPr lang="en-US" sz="2000" dirty="0">
                <a:solidFill>
                  <a:srgbClr val="F4C45A"/>
                </a:solidFill>
                <a:latin typeface="Lexend" pitchFamily="34" charset="0"/>
                <a:ea typeface="Lexend" pitchFamily="34" charset="-122"/>
                <a:cs typeface="Lexend" pitchFamily="34" charset="-120"/>
              </a:rPr>
              <a:t>2 + 1 = 3</a:t>
            </a:r>
            <a:endParaRPr lang="en-US" sz="2000" dirty="0"/>
          </a:p>
        </p:txBody>
      </p:sp>
      <p:sp>
        <p:nvSpPr>
          <p:cNvPr id="15" name="Text 12"/>
          <p:cNvSpPr/>
          <p:nvPr/>
        </p:nvSpPr>
        <p:spPr>
          <a:xfrm>
            <a:off x="7995641" y="4929140"/>
            <a:ext cx="4196054" cy="306487"/>
          </a:xfrm>
          <a:prstGeom prst="rect">
            <a:avLst/>
          </a:prstGeom>
          <a:noFill/>
          <a:ln/>
        </p:spPr>
        <p:txBody>
          <a:bodyPr wrap="none" lIns="0" tIns="0" rIns="0" bIns="0" rtlCol="0" anchor="t"/>
          <a:lstStyle/>
          <a:p>
            <a:pPr marL="0" indent="0" algn="l">
              <a:lnSpc>
                <a:spcPct val="118000"/>
              </a:lnSpc>
              <a:buNone/>
            </a:pPr>
            <a:r>
              <a:rPr lang="en-US" sz="1700" dirty="0">
                <a:solidFill>
                  <a:srgbClr val="EEF0FF"/>
                </a:solidFill>
                <a:latin typeface="Lexend" pitchFamily="34" charset="0"/>
                <a:ea typeface="Lexend" pitchFamily="34" charset="-122"/>
                <a:cs typeface="Lexend" pitchFamily="34" charset="-120"/>
              </a:rPr>
              <a:t>Library: 4 ✕ → 3 ✓</a:t>
            </a:r>
            <a:endParaRPr lang="en-US" sz="1700" dirty="0"/>
          </a:p>
        </p:txBody>
      </p:sp>
      <p:pic>
        <p:nvPicPr>
          <p:cNvPr id="16" name="Image 1" descr="preencoded.png"/>
          <p:cNvPicPr>
            <a:picLocks noChangeAspect="1"/>
          </p:cNvPicPr>
          <p:nvPr/>
        </p:nvPicPr>
        <p:blipFill>
          <a:blip r:embed="rId4"/>
          <a:stretch>
            <a:fillRect/>
          </a:stretch>
        </p:blipFill>
        <p:spPr>
          <a:xfrm>
            <a:off x="0" y="0"/>
            <a:ext cx="12191695" cy="59134"/>
          </a:xfrm>
          <a:prstGeom prst="rect">
            <a:avLst/>
          </a:prstGeom>
        </p:spPr>
      </p:pic>
      <p:cxnSp>
        <p:nvCxnSpPr>
          <p:cNvPr id="18" name="Straight Arrow Connector 17"/>
          <p:cNvCxnSpPr/>
          <p:nvPr/>
        </p:nvCxnSpPr>
        <p:spPr>
          <a:xfrm flipV="1">
            <a:off x="9195761" y="2399251"/>
            <a:ext cx="1164643" cy="1"/>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9195761" y="2739956"/>
            <a:ext cx="1164643" cy="1"/>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840929" y="3540225"/>
            <a:ext cx="348595" cy="239105"/>
          </a:xfrm>
          <a:prstGeom prst="rect">
            <a:avLst/>
          </a:prstGeom>
          <a:solidFill>
            <a:srgbClr val="262D92"/>
          </a:solidFill>
        </p:spPr>
        <p:txBody>
          <a:bodyPr wrap="square" rtlCol="0">
            <a:spAutoFit/>
          </a:bodyPr>
          <a:lstStyle/>
          <a:p>
            <a:endParaRPr lang="en-US" dirty="0"/>
          </a:p>
        </p:txBody>
      </p:sp>
      <p:sp>
        <p:nvSpPr>
          <p:cNvPr id="21" name="Oval 20"/>
          <p:cNvSpPr/>
          <p:nvPr/>
        </p:nvSpPr>
        <p:spPr>
          <a:xfrm>
            <a:off x="2189525" y="3380943"/>
            <a:ext cx="679509" cy="659099"/>
          </a:xfrm>
          <a:prstGeom prst="ellipse">
            <a:avLst/>
          </a:prstGeom>
          <a:solidFill>
            <a:srgbClr val="F39A4B"/>
          </a:solidFill>
          <a:ln w="38100">
            <a:solidFill>
              <a:srgbClr val="F4C4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2226772" y="3565461"/>
            <a:ext cx="679509" cy="338554"/>
          </a:xfrm>
          <a:prstGeom prst="rect">
            <a:avLst/>
          </a:prstGeom>
          <a:noFill/>
        </p:spPr>
        <p:txBody>
          <a:bodyPr wrap="square" rtlCol="0">
            <a:spAutoFit/>
          </a:bodyPr>
          <a:lstStyle/>
          <a:p>
            <a:r>
              <a:rPr lang="en-US" sz="1600" dirty="0">
                <a:solidFill>
                  <a:schemeClr val="bg1">
                    <a:lumMod val="95000"/>
                  </a:schemeClr>
                </a:solidFill>
              </a:rPr>
              <a:t>2 km</a:t>
            </a:r>
          </a:p>
        </p:txBody>
      </p:sp>
      <p:sp>
        <p:nvSpPr>
          <p:cNvPr id="24" name="TextBox 23"/>
          <p:cNvSpPr txBox="1"/>
          <p:nvPr/>
        </p:nvSpPr>
        <p:spPr>
          <a:xfrm>
            <a:off x="2024482" y="4093238"/>
            <a:ext cx="514053" cy="369332"/>
          </a:xfrm>
          <a:prstGeom prst="rect">
            <a:avLst/>
          </a:prstGeom>
          <a:solidFill>
            <a:srgbClr val="262D92"/>
          </a:solidFill>
        </p:spPr>
        <p:txBody>
          <a:bodyPr wrap="square" rtlCol="0">
            <a:spAutoFit/>
          </a:bodyPr>
          <a:lstStyle/>
          <a:p>
            <a:endParaRPr lang="en-US" dirty="0"/>
          </a:p>
        </p:txBody>
      </p:sp>
      <p:sp>
        <p:nvSpPr>
          <p:cNvPr id="25" name="TextBox 24"/>
          <p:cNvSpPr txBox="1"/>
          <p:nvPr/>
        </p:nvSpPr>
        <p:spPr>
          <a:xfrm>
            <a:off x="2297282" y="4062020"/>
            <a:ext cx="771493" cy="276999"/>
          </a:xfrm>
          <a:prstGeom prst="rect">
            <a:avLst/>
          </a:prstGeom>
          <a:noFill/>
        </p:spPr>
        <p:txBody>
          <a:bodyPr wrap="square" rtlCol="0">
            <a:spAutoFit/>
          </a:bodyPr>
          <a:lstStyle/>
          <a:p>
            <a:r>
              <a:rPr lang="en-US" sz="1200" dirty="0">
                <a:solidFill>
                  <a:schemeClr val="bg1">
                    <a:lumMod val="95000"/>
                  </a:schemeClr>
                </a:solidFill>
                <a:latin typeface="Lexend" panose="020B0604020202020204" charset="0"/>
                <a:cs typeface="Azeret Mono" panose="020B0604020202020204" charset="0"/>
              </a:rPr>
              <a:t>Mall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8787" y="497009"/>
            <a:ext cx="5816454" cy="740569"/>
          </a:xfrm>
          <a:prstGeom prst="rect">
            <a:avLst/>
          </a:prstGeom>
          <a:noFill/>
          <a:ln/>
        </p:spPr>
        <p:txBody>
          <a:bodyPr wrap="square" lIns="0" tIns="0" rIns="0" bIns="0" rtlCol="0" anchor="t">
            <a:normAutofit lnSpcReduction="10000"/>
          </a:bodyPr>
          <a:lstStyle/>
          <a:p>
            <a:pPr marL="0" indent="0" algn="l">
              <a:lnSpc>
                <a:spcPct val="90000"/>
              </a:lnSpc>
              <a:buNone/>
            </a:pPr>
            <a:r>
              <a:rPr lang="en-US" sz="2700" kern="100" spc="-27" dirty="0">
                <a:solidFill>
                  <a:srgbClr val="F4C45A"/>
                </a:solidFill>
                <a:latin typeface="Krona One" pitchFamily="34" charset="0"/>
                <a:ea typeface="Krona One" pitchFamily="34" charset="-122"/>
                <a:cs typeface="Krona One" pitchFamily="34" charset="-120"/>
              </a:rPr>
              <a:t>Step 3: Update the neighbours</a:t>
            </a:r>
            <a:endParaRPr lang="en-US" sz="2700" dirty="0"/>
          </a:p>
        </p:txBody>
      </p:sp>
      <p:sp>
        <p:nvSpPr>
          <p:cNvPr id="3" name="Text 1"/>
          <p:cNvSpPr/>
          <p:nvPr/>
        </p:nvSpPr>
        <p:spPr>
          <a:xfrm>
            <a:off x="558786" y="1555849"/>
            <a:ext cx="6375241" cy="306487"/>
          </a:xfrm>
          <a:prstGeom prst="rect">
            <a:avLst/>
          </a:prstGeom>
          <a:noFill/>
          <a:ln/>
        </p:spPr>
        <p:txBody>
          <a:bodyPr wrap="none" lIns="0" tIns="0" rIns="0" bIns="0" rtlCol="0" anchor="t"/>
          <a:lstStyle/>
          <a:p>
            <a:pPr marL="0" indent="0" algn="l">
              <a:lnSpc>
                <a:spcPct val="118000"/>
              </a:lnSpc>
              <a:buNone/>
            </a:pPr>
            <a:r>
              <a:rPr lang="en-US" sz="1700" dirty="0">
                <a:solidFill>
                  <a:srgbClr val="EEF0FF"/>
                </a:solidFill>
                <a:latin typeface="Lexend" pitchFamily="34" charset="0"/>
                <a:ea typeface="Lexend" pitchFamily="34" charset="-122"/>
                <a:cs typeface="Lexend" pitchFamily="34" charset="-120"/>
              </a:rPr>
              <a:t>Library is now the closest unvisited vertex at 3 km.</a:t>
            </a:r>
            <a:endParaRPr lang="en-US" sz="1700" dirty="0"/>
          </a:p>
        </p:txBody>
      </p:sp>
      <p:pic>
        <p:nvPicPr>
          <p:cNvPr id="4" name="Image 0" descr="preencoded.png"/>
          <p:cNvPicPr>
            <a:picLocks noChangeAspect="1"/>
          </p:cNvPicPr>
          <p:nvPr/>
        </p:nvPicPr>
        <p:blipFill>
          <a:blip r:embed="rId3"/>
          <a:stretch>
            <a:fillRect/>
          </a:stretch>
        </p:blipFill>
        <p:spPr>
          <a:xfrm>
            <a:off x="558786" y="2333506"/>
            <a:ext cx="330192" cy="330200"/>
          </a:xfrm>
          <a:prstGeom prst="rect">
            <a:avLst/>
          </a:prstGeom>
        </p:spPr>
      </p:pic>
      <p:sp>
        <p:nvSpPr>
          <p:cNvPr id="5" name="Text 2"/>
          <p:cNvSpPr/>
          <p:nvPr/>
        </p:nvSpPr>
        <p:spPr>
          <a:xfrm>
            <a:off x="1041374" y="2333506"/>
            <a:ext cx="5333867"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F4C45A"/>
                </a:solidFill>
                <a:latin typeface="Azeret Mono Medium" pitchFamily="34" charset="0"/>
                <a:ea typeface="Azeret Mono Medium" pitchFamily="34" charset="-122"/>
                <a:cs typeface="Azeret Mono Medium" pitchFamily="34" charset="-120"/>
              </a:rPr>
              <a:t>TO HOSPITAL</a:t>
            </a:r>
            <a:endParaRPr lang="en-US" sz="1400" dirty="0"/>
          </a:p>
        </p:txBody>
      </p:sp>
      <p:sp>
        <p:nvSpPr>
          <p:cNvPr id="6" name="Text 3"/>
          <p:cNvSpPr/>
          <p:nvPr/>
        </p:nvSpPr>
        <p:spPr>
          <a:xfrm>
            <a:off x="1041374" y="2678907"/>
            <a:ext cx="5333867" cy="360660"/>
          </a:xfrm>
          <a:prstGeom prst="rect">
            <a:avLst/>
          </a:prstGeom>
          <a:noFill/>
          <a:ln/>
        </p:spPr>
        <p:txBody>
          <a:bodyPr wrap="none" lIns="0" tIns="0" rIns="0" bIns="0" rtlCol="0" anchor="t"/>
          <a:lstStyle/>
          <a:p>
            <a:pPr marL="0" indent="0" algn="l">
              <a:lnSpc>
                <a:spcPct val="118000"/>
              </a:lnSpc>
              <a:buNone/>
            </a:pPr>
            <a:r>
              <a:rPr lang="en-US" sz="2000" dirty="0">
                <a:solidFill>
                  <a:srgbClr val="F4C45A"/>
                </a:solidFill>
                <a:latin typeface="Lexend" pitchFamily="34" charset="0"/>
                <a:ea typeface="Lexend" pitchFamily="34" charset="-122"/>
                <a:cs typeface="Lexend" pitchFamily="34" charset="-120"/>
              </a:rPr>
              <a:t>3 + 5 = 8</a:t>
            </a:r>
            <a:endParaRPr lang="en-US" sz="2000" dirty="0"/>
          </a:p>
        </p:txBody>
      </p:sp>
      <p:pic>
        <p:nvPicPr>
          <p:cNvPr id="7" name="Image 1" descr="preencoded.png"/>
          <p:cNvPicPr>
            <a:picLocks noChangeAspect="1"/>
          </p:cNvPicPr>
          <p:nvPr/>
        </p:nvPicPr>
        <p:blipFill>
          <a:blip r:embed="rId3"/>
          <a:stretch>
            <a:fillRect/>
          </a:stretch>
        </p:blipFill>
        <p:spPr>
          <a:xfrm>
            <a:off x="558786" y="3339287"/>
            <a:ext cx="330192" cy="330200"/>
          </a:xfrm>
          <a:prstGeom prst="rect">
            <a:avLst/>
          </a:prstGeom>
        </p:spPr>
      </p:pic>
      <p:sp>
        <p:nvSpPr>
          <p:cNvPr id="8" name="Text 4"/>
          <p:cNvSpPr/>
          <p:nvPr/>
        </p:nvSpPr>
        <p:spPr>
          <a:xfrm>
            <a:off x="1041374" y="3339287"/>
            <a:ext cx="5333867"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F4C45A"/>
                </a:solidFill>
                <a:latin typeface="Azeret Mono Medium" pitchFamily="34" charset="0"/>
                <a:ea typeface="Azeret Mono Medium" pitchFamily="34" charset="-122"/>
                <a:cs typeface="Azeret Mono Medium" pitchFamily="34" charset="-120"/>
              </a:rPr>
              <a:t>TO RAILWAY STATION</a:t>
            </a:r>
            <a:endParaRPr lang="en-US" sz="1400" dirty="0"/>
          </a:p>
        </p:txBody>
      </p:sp>
      <p:sp>
        <p:nvSpPr>
          <p:cNvPr id="9" name="Text 5"/>
          <p:cNvSpPr/>
          <p:nvPr/>
        </p:nvSpPr>
        <p:spPr>
          <a:xfrm>
            <a:off x="1041374" y="3684687"/>
            <a:ext cx="5333867" cy="360660"/>
          </a:xfrm>
          <a:prstGeom prst="rect">
            <a:avLst/>
          </a:prstGeom>
          <a:noFill/>
          <a:ln/>
        </p:spPr>
        <p:txBody>
          <a:bodyPr wrap="none" lIns="0" tIns="0" rIns="0" bIns="0" rtlCol="0" anchor="t"/>
          <a:lstStyle/>
          <a:p>
            <a:pPr marL="0" indent="0" algn="l">
              <a:lnSpc>
                <a:spcPct val="118000"/>
              </a:lnSpc>
              <a:buNone/>
            </a:pPr>
            <a:r>
              <a:rPr lang="en-US" sz="2000" dirty="0">
                <a:solidFill>
                  <a:srgbClr val="F4C45A"/>
                </a:solidFill>
                <a:latin typeface="Lexend" pitchFamily="34" charset="0"/>
                <a:ea typeface="Lexend" pitchFamily="34" charset="-122"/>
                <a:cs typeface="Lexend" pitchFamily="34" charset="-120"/>
              </a:rPr>
              <a:t>3 + 10 = 13</a:t>
            </a:r>
            <a:endParaRPr lang="en-US" sz="2000" dirty="0"/>
          </a:p>
        </p:txBody>
      </p:sp>
      <p:sp>
        <p:nvSpPr>
          <p:cNvPr id="10" name="Text 6"/>
          <p:cNvSpPr/>
          <p:nvPr/>
        </p:nvSpPr>
        <p:spPr>
          <a:xfrm>
            <a:off x="558786" y="4530477"/>
            <a:ext cx="6375241" cy="214610"/>
          </a:xfrm>
          <a:prstGeom prst="rect">
            <a:avLst/>
          </a:prstGeom>
          <a:noFill/>
          <a:ln/>
        </p:spPr>
        <p:txBody>
          <a:bodyPr wrap="none" lIns="0" tIns="0" rIns="0" bIns="0" rtlCol="0" anchor="t"/>
          <a:lstStyle/>
          <a:p>
            <a:pPr marL="0" indent="0" algn="l">
              <a:lnSpc>
                <a:spcPct val="108000"/>
              </a:lnSpc>
              <a:buNone/>
            </a:pPr>
            <a:r>
              <a:rPr lang="en-US" sz="1600" kern="100" spc="13" dirty="0">
                <a:solidFill>
                  <a:srgbClr val="B7BCEB"/>
                </a:solidFill>
                <a:latin typeface="Azeret Mono" pitchFamily="34" charset="0"/>
                <a:ea typeface="Azeret Mono" pitchFamily="34" charset="-122"/>
                <a:cs typeface="Azeret Mono" pitchFamily="34" charset="-120"/>
              </a:rPr>
              <a:t>Hospital = 8 is the next smallest choice.</a:t>
            </a:r>
            <a:endParaRPr lang="en-US" sz="1600" dirty="0"/>
          </a:p>
        </p:txBody>
      </p:sp>
      <p:sp>
        <p:nvSpPr>
          <p:cNvPr id="11" name="Shape 7"/>
          <p:cNvSpPr/>
          <p:nvPr/>
        </p:nvSpPr>
        <p:spPr>
          <a:xfrm>
            <a:off x="7238819" y="0"/>
            <a:ext cx="4952876" cy="6858000"/>
          </a:xfrm>
          <a:prstGeom prst="rect">
            <a:avLst/>
          </a:prstGeom>
          <a:solidFill>
            <a:srgbClr val="262D92"/>
          </a:solidFill>
          <a:ln/>
          <a:effectLst>
            <a:outerShdw blurRad="278130" dist="127" dir="16200000" algn="bl" rotWithShape="0">
              <a:srgbClr val="B7BCEB">
                <a:alpha val="20000"/>
              </a:srgbClr>
            </a:outerShdw>
          </a:effectLst>
        </p:spPr>
      </p:sp>
      <p:sp>
        <p:nvSpPr>
          <p:cNvPr id="12" name="Text 8"/>
          <p:cNvSpPr/>
          <p:nvPr/>
        </p:nvSpPr>
        <p:spPr>
          <a:xfrm>
            <a:off x="7492813" y="228600"/>
            <a:ext cx="4698882"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EEF0FF"/>
                </a:solidFill>
                <a:latin typeface="Azeret Mono Medium" pitchFamily="34" charset="0"/>
                <a:ea typeface="Azeret Mono Medium" pitchFamily="34" charset="-122"/>
                <a:cs typeface="Azeret Mono Medium" pitchFamily="34" charset="-120"/>
              </a:rPr>
              <a:t>CURRENT DISTANCES</a:t>
            </a:r>
            <a:endParaRPr lang="en-US" sz="1400" dirty="0"/>
          </a:p>
        </p:txBody>
      </p:sp>
      <p:sp>
        <p:nvSpPr>
          <p:cNvPr id="13" name="Text 9"/>
          <p:cNvSpPr/>
          <p:nvPr/>
        </p:nvSpPr>
        <p:spPr>
          <a:xfrm>
            <a:off x="7492813" y="864195"/>
            <a:ext cx="3111323" cy="270470"/>
          </a:xfrm>
          <a:prstGeom prst="rect">
            <a:avLst/>
          </a:prstGeom>
          <a:noFill/>
          <a:ln/>
        </p:spPr>
        <p:txBody>
          <a:bodyPr wrap="none" lIns="0" tIns="0" rIns="0" bIns="0" rtlCol="0" anchor="t"/>
          <a:lstStyle/>
          <a:p>
            <a:pPr marL="0" indent="0" algn="l">
              <a:lnSpc>
                <a:spcPct val="118000"/>
              </a:lnSpc>
              <a:buNone/>
            </a:pPr>
            <a:r>
              <a:rPr lang="en-US" sz="1500" dirty="0">
                <a:solidFill>
                  <a:srgbClr val="EEF0FF"/>
                </a:solidFill>
                <a:latin typeface="Azeret Mono" pitchFamily="34" charset="0"/>
                <a:ea typeface="Azeret Mono" pitchFamily="34" charset="-122"/>
                <a:cs typeface="Azeret Mono" pitchFamily="34" charset="-120"/>
              </a:rPr>
              <a:t>College</a:t>
            </a:r>
            <a:endParaRPr lang="en-US" sz="1500" dirty="0"/>
          </a:p>
        </p:txBody>
      </p:sp>
      <p:sp>
        <p:nvSpPr>
          <p:cNvPr id="14" name="Text 10"/>
          <p:cNvSpPr/>
          <p:nvPr/>
        </p:nvSpPr>
        <p:spPr>
          <a:xfrm>
            <a:off x="10604135" y="864195"/>
            <a:ext cx="1333467" cy="270470"/>
          </a:xfrm>
          <a:prstGeom prst="rect">
            <a:avLst/>
          </a:prstGeom>
          <a:noFill/>
          <a:ln/>
        </p:spPr>
        <p:txBody>
          <a:bodyPr wrap="none" lIns="0" tIns="0" rIns="0" bIns="0" rtlCol="0" anchor="t"/>
          <a:lstStyle/>
          <a:p>
            <a:pPr marL="0" indent="0" algn="r">
              <a:lnSpc>
                <a:spcPct val="118000"/>
              </a:lnSpc>
              <a:buNone/>
            </a:pPr>
            <a:r>
              <a:rPr lang="en-US" sz="1500" dirty="0">
                <a:solidFill>
                  <a:srgbClr val="EEF0FF"/>
                </a:solidFill>
                <a:latin typeface="Azeret Mono" pitchFamily="34" charset="0"/>
                <a:ea typeface="Azeret Mono" pitchFamily="34" charset="-122"/>
                <a:cs typeface="Azeret Mono" pitchFamily="34" charset="-120"/>
              </a:rPr>
              <a:t>0</a:t>
            </a:r>
            <a:endParaRPr lang="en-US" sz="1500" dirty="0"/>
          </a:p>
        </p:txBody>
      </p:sp>
      <p:sp>
        <p:nvSpPr>
          <p:cNvPr id="15" name="Text 11"/>
          <p:cNvSpPr/>
          <p:nvPr/>
        </p:nvSpPr>
        <p:spPr>
          <a:xfrm>
            <a:off x="7492813" y="1591866"/>
            <a:ext cx="3111323" cy="270470"/>
          </a:xfrm>
          <a:prstGeom prst="rect">
            <a:avLst/>
          </a:prstGeom>
          <a:noFill/>
          <a:ln/>
        </p:spPr>
        <p:txBody>
          <a:bodyPr wrap="none" lIns="0" tIns="0" rIns="0" bIns="0" rtlCol="0" anchor="t"/>
          <a:lstStyle/>
          <a:p>
            <a:pPr marL="0" indent="0" algn="l">
              <a:lnSpc>
                <a:spcPct val="118000"/>
              </a:lnSpc>
              <a:buNone/>
            </a:pPr>
            <a:r>
              <a:rPr lang="en-US" sz="1500" dirty="0">
                <a:solidFill>
                  <a:srgbClr val="EEF0FF"/>
                </a:solidFill>
                <a:latin typeface="Azeret Mono" pitchFamily="34" charset="0"/>
                <a:ea typeface="Azeret Mono" pitchFamily="34" charset="-122"/>
                <a:cs typeface="Azeret Mono" pitchFamily="34" charset="-120"/>
              </a:rPr>
              <a:t>Mall</a:t>
            </a:r>
            <a:endParaRPr lang="en-US" sz="1500" dirty="0"/>
          </a:p>
        </p:txBody>
      </p:sp>
      <p:sp>
        <p:nvSpPr>
          <p:cNvPr id="16" name="Text 12"/>
          <p:cNvSpPr/>
          <p:nvPr/>
        </p:nvSpPr>
        <p:spPr>
          <a:xfrm>
            <a:off x="10604135" y="1591866"/>
            <a:ext cx="1333467" cy="270470"/>
          </a:xfrm>
          <a:prstGeom prst="rect">
            <a:avLst/>
          </a:prstGeom>
          <a:noFill/>
          <a:ln/>
        </p:spPr>
        <p:txBody>
          <a:bodyPr wrap="none" lIns="0" tIns="0" rIns="0" bIns="0" rtlCol="0" anchor="t"/>
          <a:lstStyle/>
          <a:p>
            <a:pPr marL="0" indent="0" algn="r">
              <a:lnSpc>
                <a:spcPct val="118000"/>
              </a:lnSpc>
              <a:buNone/>
            </a:pPr>
            <a:r>
              <a:rPr lang="en-US" sz="1500" dirty="0">
                <a:solidFill>
                  <a:srgbClr val="EEF0FF"/>
                </a:solidFill>
                <a:latin typeface="Azeret Mono" pitchFamily="34" charset="0"/>
                <a:ea typeface="Azeret Mono" pitchFamily="34" charset="-122"/>
                <a:cs typeface="Azeret Mono" pitchFamily="34" charset="-120"/>
              </a:rPr>
              <a:t>2</a:t>
            </a:r>
            <a:endParaRPr lang="en-US" sz="1500" dirty="0"/>
          </a:p>
        </p:txBody>
      </p:sp>
      <p:sp>
        <p:nvSpPr>
          <p:cNvPr id="17" name="Text 13"/>
          <p:cNvSpPr/>
          <p:nvPr/>
        </p:nvSpPr>
        <p:spPr>
          <a:xfrm>
            <a:off x="7492813" y="2319536"/>
            <a:ext cx="3111323" cy="270470"/>
          </a:xfrm>
          <a:prstGeom prst="rect">
            <a:avLst/>
          </a:prstGeom>
          <a:noFill/>
          <a:ln/>
        </p:spPr>
        <p:txBody>
          <a:bodyPr wrap="none" lIns="0" tIns="0" rIns="0" bIns="0" rtlCol="0" anchor="t"/>
          <a:lstStyle/>
          <a:p>
            <a:pPr marL="0" indent="0" algn="l">
              <a:lnSpc>
                <a:spcPct val="118000"/>
              </a:lnSpc>
              <a:buNone/>
            </a:pPr>
            <a:r>
              <a:rPr lang="en-US" sz="1500" dirty="0">
                <a:solidFill>
                  <a:srgbClr val="EEF0FF"/>
                </a:solidFill>
                <a:latin typeface="Azeret Mono" pitchFamily="34" charset="0"/>
                <a:ea typeface="Azeret Mono" pitchFamily="34" charset="-122"/>
                <a:cs typeface="Azeret Mono" pitchFamily="34" charset="-120"/>
              </a:rPr>
              <a:t>Library</a:t>
            </a:r>
            <a:endParaRPr lang="en-US" sz="1500" dirty="0"/>
          </a:p>
        </p:txBody>
      </p:sp>
      <p:sp>
        <p:nvSpPr>
          <p:cNvPr id="18" name="Text 14"/>
          <p:cNvSpPr/>
          <p:nvPr/>
        </p:nvSpPr>
        <p:spPr>
          <a:xfrm>
            <a:off x="10604135" y="2319536"/>
            <a:ext cx="1333467" cy="270470"/>
          </a:xfrm>
          <a:prstGeom prst="rect">
            <a:avLst/>
          </a:prstGeom>
          <a:noFill/>
          <a:ln/>
        </p:spPr>
        <p:txBody>
          <a:bodyPr wrap="none" lIns="0" tIns="0" rIns="0" bIns="0" rtlCol="0" anchor="t"/>
          <a:lstStyle/>
          <a:p>
            <a:pPr marL="0" indent="0" algn="r">
              <a:lnSpc>
                <a:spcPct val="118000"/>
              </a:lnSpc>
              <a:buNone/>
            </a:pPr>
            <a:r>
              <a:rPr lang="en-US" sz="1500" dirty="0">
                <a:solidFill>
                  <a:srgbClr val="EEF0FF"/>
                </a:solidFill>
                <a:latin typeface="Azeret Mono" pitchFamily="34" charset="0"/>
                <a:ea typeface="Azeret Mono" pitchFamily="34" charset="-122"/>
                <a:cs typeface="Azeret Mono" pitchFamily="34" charset="-120"/>
              </a:rPr>
              <a:t>3</a:t>
            </a:r>
            <a:endParaRPr lang="en-US" sz="1500" dirty="0"/>
          </a:p>
        </p:txBody>
      </p:sp>
      <p:sp>
        <p:nvSpPr>
          <p:cNvPr id="19" name="Shape 15"/>
          <p:cNvSpPr/>
          <p:nvPr/>
        </p:nvSpPr>
        <p:spPr>
          <a:xfrm>
            <a:off x="7399091" y="2818606"/>
            <a:ext cx="3205046" cy="727670"/>
          </a:xfrm>
          <a:prstGeom prst="rect">
            <a:avLst/>
          </a:prstGeom>
          <a:solidFill>
            <a:srgbClr val="5CC98B"/>
          </a:solidFill>
          <a:ln/>
        </p:spPr>
      </p:sp>
      <p:sp>
        <p:nvSpPr>
          <p:cNvPr id="20" name="Text 16"/>
          <p:cNvSpPr/>
          <p:nvPr/>
        </p:nvSpPr>
        <p:spPr>
          <a:xfrm>
            <a:off x="7492813" y="3034453"/>
            <a:ext cx="2882729"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Azeret Mono" pitchFamily="34" charset="0"/>
                <a:ea typeface="Azeret Mono" pitchFamily="34" charset="-122"/>
                <a:cs typeface="Azeret Mono" pitchFamily="34" charset="-120"/>
              </a:rPr>
              <a:t>Hospital</a:t>
            </a:r>
            <a:endParaRPr lang="en-US" sz="1500" dirty="0"/>
          </a:p>
        </p:txBody>
      </p:sp>
      <p:sp>
        <p:nvSpPr>
          <p:cNvPr id="21" name="Shape 17"/>
          <p:cNvSpPr/>
          <p:nvPr/>
        </p:nvSpPr>
        <p:spPr>
          <a:xfrm>
            <a:off x="10604135" y="2818606"/>
            <a:ext cx="1501179" cy="727670"/>
          </a:xfrm>
          <a:prstGeom prst="rect">
            <a:avLst/>
          </a:prstGeom>
          <a:solidFill>
            <a:srgbClr val="5CC98B"/>
          </a:solidFill>
          <a:ln/>
        </p:spPr>
      </p:sp>
      <p:sp>
        <p:nvSpPr>
          <p:cNvPr id="22" name="Text 18"/>
          <p:cNvSpPr/>
          <p:nvPr/>
        </p:nvSpPr>
        <p:spPr>
          <a:xfrm>
            <a:off x="10604135" y="3047206"/>
            <a:ext cx="1333467" cy="270470"/>
          </a:xfrm>
          <a:prstGeom prst="rect">
            <a:avLst/>
          </a:prstGeom>
          <a:noFill/>
          <a:ln/>
        </p:spPr>
        <p:txBody>
          <a:bodyPr wrap="none" lIns="0" tIns="0" rIns="0" bIns="0" rtlCol="0" anchor="t"/>
          <a:lstStyle/>
          <a:p>
            <a:pPr marL="0" indent="0" algn="r">
              <a:lnSpc>
                <a:spcPct val="118000"/>
              </a:lnSpc>
              <a:buNone/>
            </a:pPr>
            <a:r>
              <a:rPr lang="en-US" sz="1500" dirty="0">
                <a:solidFill>
                  <a:srgbClr val="000000"/>
                </a:solidFill>
                <a:latin typeface="Azeret Mono" pitchFamily="34" charset="0"/>
                <a:ea typeface="Azeret Mono" pitchFamily="34" charset="-122"/>
                <a:cs typeface="Azeret Mono" pitchFamily="34" charset="-120"/>
              </a:rPr>
              <a:t>8</a:t>
            </a:r>
            <a:endParaRPr lang="en-US" sz="1500" dirty="0"/>
          </a:p>
        </p:txBody>
      </p:sp>
      <p:sp>
        <p:nvSpPr>
          <p:cNvPr id="23" name="Text 19"/>
          <p:cNvSpPr/>
          <p:nvPr/>
        </p:nvSpPr>
        <p:spPr>
          <a:xfrm>
            <a:off x="7492813" y="3774877"/>
            <a:ext cx="3111323" cy="270470"/>
          </a:xfrm>
          <a:prstGeom prst="rect">
            <a:avLst/>
          </a:prstGeom>
          <a:noFill/>
          <a:ln/>
        </p:spPr>
        <p:txBody>
          <a:bodyPr wrap="none" lIns="0" tIns="0" rIns="0" bIns="0" rtlCol="0" anchor="t"/>
          <a:lstStyle/>
          <a:p>
            <a:pPr marL="0" indent="0" algn="l">
              <a:lnSpc>
                <a:spcPct val="118000"/>
              </a:lnSpc>
              <a:buNone/>
            </a:pPr>
            <a:r>
              <a:rPr lang="en-US" sz="1500" dirty="0">
                <a:solidFill>
                  <a:srgbClr val="EEF0FF"/>
                </a:solidFill>
                <a:latin typeface="Azeret Mono" pitchFamily="34" charset="0"/>
                <a:ea typeface="Azeret Mono" pitchFamily="34" charset="-122"/>
                <a:cs typeface="Azeret Mono" pitchFamily="34" charset="-120"/>
              </a:rPr>
              <a:t>Railway Station</a:t>
            </a:r>
            <a:endParaRPr lang="en-US" sz="1500" dirty="0"/>
          </a:p>
        </p:txBody>
      </p:sp>
      <p:sp>
        <p:nvSpPr>
          <p:cNvPr id="24" name="Text 20"/>
          <p:cNvSpPr/>
          <p:nvPr/>
        </p:nvSpPr>
        <p:spPr>
          <a:xfrm>
            <a:off x="10604135" y="3774877"/>
            <a:ext cx="1333467" cy="270470"/>
          </a:xfrm>
          <a:prstGeom prst="rect">
            <a:avLst/>
          </a:prstGeom>
          <a:noFill/>
          <a:ln/>
        </p:spPr>
        <p:txBody>
          <a:bodyPr wrap="none" lIns="0" tIns="0" rIns="0" bIns="0" rtlCol="0" anchor="t"/>
          <a:lstStyle/>
          <a:p>
            <a:pPr marL="0" indent="0" algn="r">
              <a:lnSpc>
                <a:spcPct val="118000"/>
              </a:lnSpc>
              <a:buNone/>
            </a:pPr>
            <a:r>
              <a:rPr lang="en-US" sz="1500" dirty="0">
                <a:solidFill>
                  <a:srgbClr val="EEF0FF"/>
                </a:solidFill>
                <a:latin typeface="Azeret Mono" pitchFamily="34" charset="0"/>
                <a:ea typeface="Azeret Mono" pitchFamily="34" charset="-122"/>
                <a:cs typeface="Azeret Mono" pitchFamily="34" charset="-120"/>
              </a:rPr>
              <a:t>13</a:t>
            </a:r>
            <a:endParaRPr lang="en-US" sz="1500" dirty="0"/>
          </a:p>
        </p:txBody>
      </p:sp>
      <p:sp>
        <p:nvSpPr>
          <p:cNvPr id="25" name="Text 21"/>
          <p:cNvSpPr/>
          <p:nvPr/>
        </p:nvSpPr>
        <p:spPr>
          <a:xfrm>
            <a:off x="7492813" y="4502547"/>
            <a:ext cx="3111323" cy="270470"/>
          </a:xfrm>
          <a:prstGeom prst="rect">
            <a:avLst/>
          </a:prstGeom>
          <a:noFill/>
          <a:ln/>
        </p:spPr>
        <p:txBody>
          <a:bodyPr wrap="none" lIns="0" tIns="0" rIns="0" bIns="0" rtlCol="0" anchor="t"/>
          <a:lstStyle/>
          <a:p>
            <a:pPr marL="0" indent="0" algn="l">
              <a:lnSpc>
                <a:spcPct val="118000"/>
              </a:lnSpc>
              <a:buNone/>
            </a:pPr>
            <a:r>
              <a:rPr lang="en-US" sz="1500" dirty="0">
                <a:solidFill>
                  <a:srgbClr val="EEF0FF"/>
                </a:solidFill>
                <a:latin typeface="Azeret Mono" pitchFamily="34" charset="0"/>
                <a:ea typeface="Azeret Mono" pitchFamily="34" charset="-122"/>
                <a:cs typeface="Azeret Mono" pitchFamily="34" charset="-120"/>
              </a:rPr>
              <a:t>Airport</a:t>
            </a:r>
            <a:endParaRPr lang="en-US" sz="1500" dirty="0"/>
          </a:p>
        </p:txBody>
      </p:sp>
      <p:sp>
        <p:nvSpPr>
          <p:cNvPr id="26" name="Text 22"/>
          <p:cNvSpPr/>
          <p:nvPr/>
        </p:nvSpPr>
        <p:spPr>
          <a:xfrm>
            <a:off x="10604135" y="4502547"/>
            <a:ext cx="1333467" cy="270470"/>
          </a:xfrm>
          <a:prstGeom prst="rect">
            <a:avLst/>
          </a:prstGeom>
          <a:noFill/>
          <a:ln/>
        </p:spPr>
        <p:txBody>
          <a:bodyPr wrap="none" lIns="0" tIns="0" rIns="0" bIns="0" rtlCol="0" anchor="t"/>
          <a:lstStyle/>
          <a:p>
            <a:pPr marL="0" indent="0" algn="r">
              <a:lnSpc>
                <a:spcPct val="118000"/>
              </a:lnSpc>
              <a:buNone/>
            </a:pPr>
            <a:r>
              <a:rPr lang="en-US" sz="1500" dirty="0">
                <a:solidFill>
                  <a:srgbClr val="EEF0FF"/>
                </a:solidFill>
                <a:latin typeface="Azeret Mono" pitchFamily="34" charset="0"/>
                <a:ea typeface="Azeret Mono" pitchFamily="34" charset="-122"/>
                <a:cs typeface="Azeret Mono" pitchFamily="34" charset="-120"/>
              </a:rPr>
              <a:t>∞</a:t>
            </a:r>
            <a:endParaRPr lang="en-US" sz="1500" dirty="0"/>
          </a:p>
        </p:txBody>
      </p:sp>
      <p:pic>
        <p:nvPicPr>
          <p:cNvPr id="27" name="Image 2" descr="preencoded.png"/>
          <p:cNvPicPr>
            <a:picLocks noChangeAspect="1"/>
          </p:cNvPicPr>
          <p:nvPr/>
        </p:nvPicPr>
        <p:blipFill>
          <a:blip r:embed="rId4"/>
          <a:stretch>
            <a:fillRect/>
          </a:stretch>
        </p:blipFill>
        <p:spPr>
          <a:xfrm>
            <a:off x="0" y="0"/>
            <a:ext cx="12191695" cy="591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6934027" cy="6858000"/>
          </a:xfrm>
          <a:prstGeom prst="rect">
            <a:avLst/>
          </a:prstGeom>
          <a:solidFill>
            <a:srgbClr val="262D92"/>
          </a:solidFill>
          <a:ln/>
          <a:effectLst>
            <a:outerShdw blurRad="328930" dist="127" dir="16200000" algn="bl" rotWithShape="0">
              <a:srgbClr val="F4C45A">
                <a:alpha val="20000"/>
              </a:srgbClr>
            </a:outerShdw>
          </a:effectLst>
        </p:spPr>
      </p:sp>
      <p:sp>
        <p:nvSpPr>
          <p:cNvPr id="3" name="Text 1"/>
          <p:cNvSpPr/>
          <p:nvPr/>
        </p:nvSpPr>
        <p:spPr>
          <a:xfrm>
            <a:off x="321106" y="459684"/>
            <a:ext cx="6680033"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EEF0FF"/>
                </a:solidFill>
                <a:latin typeface="Azeret Mono Medium" pitchFamily="34" charset="0"/>
                <a:ea typeface="Azeret Mono Medium" pitchFamily="34" charset="-122"/>
                <a:cs typeface="Azeret Mono Medium" pitchFamily="34" charset="-120"/>
              </a:rPr>
              <a:t>STEP 4 · IMPROVE THE ROUTE</a:t>
            </a:r>
            <a:endParaRPr lang="en-US" sz="1400" dirty="0"/>
          </a:p>
        </p:txBody>
      </p:sp>
      <p:pic>
        <p:nvPicPr>
          <p:cNvPr id="4" name="Image 0" descr="preencoded.png"/>
          <p:cNvPicPr>
            <a:picLocks noChangeAspect="1"/>
          </p:cNvPicPr>
          <p:nvPr/>
        </p:nvPicPr>
        <p:blipFill>
          <a:blip r:embed="rId3"/>
          <a:stretch>
            <a:fillRect/>
          </a:stretch>
        </p:blipFill>
        <p:spPr>
          <a:xfrm>
            <a:off x="253994" y="635595"/>
            <a:ext cx="6426039" cy="3886200"/>
          </a:xfrm>
          <a:prstGeom prst="rect">
            <a:avLst/>
          </a:prstGeom>
        </p:spPr>
      </p:pic>
      <p:sp>
        <p:nvSpPr>
          <p:cNvPr id="5" name="Text 2"/>
          <p:cNvSpPr/>
          <p:nvPr/>
        </p:nvSpPr>
        <p:spPr>
          <a:xfrm>
            <a:off x="261742" y="4807889"/>
            <a:ext cx="6680033"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EEF0FF"/>
                </a:solidFill>
                <a:latin typeface="Azeret Mono" pitchFamily="34" charset="0"/>
                <a:ea typeface="Azeret Mono" pitchFamily="34" charset="-122"/>
                <a:cs typeface="Azeret Mono" pitchFamily="34" charset="-120"/>
              </a:rPr>
              <a:t>The new route reaches Railway Station in 10 km.</a:t>
            </a:r>
            <a:endParaRPr lang="en-US" sz="1300" dirty="0"/>
          </a:p>
        </p:txBody>
      </p:sp>
      <p:sp>
        <p:nvSpPr>
          <p:cNvPr id="6" name="Text 3"/>
          <p:cNvSpPr/>
          <p:nvPr/>
        </p:nvSpPr>
        <p:spPr>
          <a:xfrm>
            <a:off x="7797605" y="432117"/>
            <a:ext cx="3835304" cy="1110853"/>
          </a:xfrm>
          <a:prstGeom prst="rect">
            <a:avLst/>
          </a:prstGeom>
          <a:noFill/>
          <a:ln/>
        </p:spPr>
        <p:txBody>
          <a:bodyPr wrap="square" lIns="0" tIns="0" rIns="0" bIns="0" rtlCol="0" anchor="t">
            <a:normAutofit lnSpcReduction="10000"/>
          </a:bodyPr>
          <a:lstStyle/>
          <a:p>
            <a:pPr marL="0" indent="0" algn="l">
              <a:lnSpc>
                <a:spcPct val="90000"/>
              </a:lnSpc>
              <a:buNone/>
            </a:pPr>
            <a:r>
              <a:rPr lang="en-US" sz="2700" kern="100" spc="-27" dirty="0">
                <a:solidFill>
                  <a:srgbClr val="F4C45A"/>
                </a:solidFill>
                <a:latin typeface="Krona One" pitchFamily="34" charset="0"/>
                <a:ea typeface="Krona One" pitchFamily="34" charset="-122"/>
                <a:cs typeface="Krona One" pitchFamily="34" charset="-120"/>
              </a:rPr>
              <a:t>Step 4: Find an even shorter route</a:t>
            </a:r>
            <a:endParaRPr lang="en-US" sz="2700" dirty="0"/>
          </a:p>
        </p:txBody>
      </p:sp>
      <p:sp>
        <p:nvSpPr>
          <p:cNvPr id="7" name="Text 4"/>
          <p:cNvSpPr/>
          <p:nvPr/>
        </p:nvSpPr>
        <p:spPr>
          <a:xfrm>
            <a:off x="7797910" y="2000305"/>
            <a:ext cx="3835304" cy="806648"/>
          </a:xfrm>
          <a:prstGeom prst="rect">
            <a:avLst/>
          </a:prstGeom>
          <a:noFill/>
          <a:ln/>
        </p:spPr>
        <p:txBody>
          <a:bodyPr wrap="square" lIns="0" tIns="0" rIns="0" bIns="0" rtlCol="0" anchor="t"/>
          <a:lstStyle/>
          <a:p>
            <a:pPr marL="0" indent="0" algn="l">
              <a:lnSpc>
                <a:spcPct val="118000"/>
              </a:lnSpc>
              <a:spcAft>
                <a:spcPts val="1500"/>
              </a:spcAft>
              <a:buNone/>
            </a:pPr>
            <a:r>
              <a:rPr lang="en-US" sz="1700" dirty="0">
                <a:solidFill>
                  <a:srgbClr val="EEF0FF"/>
                </a:solidFill>
                <a:latin typeface="Lexend" pitchFamily="34" charset="0"/>
                <a:ea typeface="Lexend" pitchFamily="34" charset="-122"/>
                <a:cs typeface="Lexend" pitchFamily="34" charset="-120"/>
              </a:rPr>
              <a:t>Hospital = 8 km.</a:t>
            </a:r>
            <a:endParaRPr lang="en-US" sz="1700" dirty="0"/>
          </a:p>
          <a:p>
            <a:pPr marL="0" indent="0" algn="l">
              <a:lnSpc>
                <a:spcPct val="118000"/>
              </a:lnSpc>
              <a:buNone/>
            </a:pPr>
            <a:r>
              <a:rPr lang="en-US" sz="1700" dirty="0">
                <a:solidFill>
                  <a:srgbClr val="EEF0FF"/>
                </a:solidFill>
                <a:latin typeface="Lexend" pitchFamily="34" charset="0"/>
                <a:ea typeface="Lexend" pitchFamily="34" charset="-122"/>
                <a:cs typeface="Lexend" pitchFamily="34" charset="-120"/>
              </a:rPr>
              <a:t>Hospital → Railway Station = 2 km.</a:t>
            </a:r>
            <a:endParaRPr lang="en-US" sz="1700" dirty="0"/>
          </a:p>
        </p:txBody>
      </p:sp>
      <p:sp>
        <p:nvSpPr>
          <p:cNvPr id="8" name="Text 5"/>
          <p:cNvSpPr/>
          <p:nvPr/>
        </p:nvSpPr>
        <p:spPr>
          <a:xfrm>
            <a:off x="7817186" y="3220130"/>
            <a:ext cx="4394090" cy="360660"/>
          </a:xfrm>
          <a:prstGeom prst="rect">
            <a:avLst/>
          </a:prstGeom>
          <a:noFill/>
          <a:ln/>
        </p:spPr>
        <p:txBody>
          <a:bodyPr wrap="none" lIns="0" tIns="0" rIns="0" bIns="0" rtlCol="0" anchor="t"/>
          <a:lstStyle/>
          <a:p>
            <a:pPr marL="0" indent="0" algn="l">
              <a:lnSpc>
                <a:spcPct val="118000"/>
              </a:lnSpc>
              <a:buNone/>
            </a:pPr>
            <a:r>
              <a:rPr lang="en-US" sz="2000" dirty="0">
                <a:solidFill>
                  <a:srgbClr val="F4C45A"/>
                </a:solidFill>
                <a:latin typeface="Lexend" pitchFamily="34" charset="0"/>
                <a:ea typeface="Lexend" pitchFamily="34" charset="-122"/>
                <a:cs typeface="Lexend" pitchFamily="34" charset="-120"/>
              </a:rPr>
              <a:t>8 + 2 = 10</a:t>
            </a:r>
            <a:endParaRPr lang="en-US" sz="2000" dirty="0"/>
          </a:p>
        </p:txBody>
      </p:sp>
      <p:sp>
        <p:nvSpPr>
          <p:cNvPr id="9" name="Shape 6"/>
          <p:cNvSpPr/>
          <p:nvPr/>
        </p:nvSpPr>
        <p:spPr>
          <a:xfrm>
            <a:off x="7566870" y="4002030"/>
            <a:ext cx="4066039" cy="45719"/>
          </a:xfrm>
          <a:prstGeom prst="roundRect">
            <a:avLst>
              <a:gd name="adj" fmla="val 49998"/>
            </a:avLst>
          </a:prstGeom>
          <a:solidFill>
            <a:srgbClr val="5B62C6"/>
          </a:solidFill>
          <a:ln/>
        </p:spPr>
      </p:sp>
      <p:sp>
        <p:nvSpPr>
          <p:cNvPr id="10" name="Text 7"/>
          <p:cNvSpPr/>
          <p:nvPr/>
        </p:nvSpPr>
        <p:spPr>
          <a:xfrm>
            <a:off x="7797910" y="4397291"/>
            <a:ext cx="4394090" cy="306487"/>
          </a:xfrm>
          <a:prstGeom prst="rect">
            <a:avLst/>
          </a:prstGeom>
          <a:noFill/>
          <a:ln/>
        </p:spPr>
        <p:txBody>
          <a:bodyPr wrap="none" lIns="0" tIns="0" rIns="0" bIns="0" rtlCol="0" anchor="t"/>
          <a:lstStyle/>
          <a:p>
            <a:pPr marL="0" indent="0" algn="l">
              <a:lnSpc>
                <a:spcPct val="118000"/>
              </a:lnSpc>
              <a:buNone/>
            </a:pPr>
            <a:r>
              <a:rPr lang="en-US" sz="1700" dirty="0">
                <a:solidFill>
                  <a:srgbClr val="EEF0FF"/>
                </a:solidFill>
                <a:latin typeface="Lexend" pitchFamily="34" charset="0"/>
                <a:ea typeface="Lexend" pitchFamily="34" charset="-122"/>
                <a:cs typeface="Lexend" pitchFamily="34" charset="-120"/>
              </a:rPr>
              <a:t>Railway Station: 13 ✕ → </a:t>
            </a:r>
            <a:r>
              <a:rPr lang="en-US" sz="1700" dirty="0">
                <a:solidFill>
                  <a:srgbClr val="5CC98B"/>
                </a:solidFill>
                <a:latin typeface="Lexend" pitchFamily="34" charset="0"/>
                <a:ea typeface="Lexend" pitchFamily="34" charset="-122"/>
                <a:cs typeface="Lexend" pitchFamily="34" charset="-120"/>
              </a:rPr>
              <a:t>10 ✓</a:t>
            </a:r>
            <a:endParaRPr lang="en-US" sz="1700" dirty="0"/>
          </a:p>
        </p:txBody>
      </p:sp>
      <p:sp>
        <p:nvSpPr>
          <p:cNvPr id="11" name="Text 8"/>
          <p:cNvSpPr/>
          <p:nvPr/>
        </p:nvSpPr>
        <p:spPr>
          <a:xfrm>
            <a:off x="7797605" y="5053320"/>
            <a:ext cx="4066039" cy="429220"/>
          </a:xfrm>
          <a:prstGeom prst="rect">
            <a:avLst/>
          </a:prstGeom>
          <a:noFill/>
          <a:ln/>
        </p:spPr>
        <p:txBody>
          <a:bodyPr wrap="square" lIns="0" tIns="0" rIns="0" bIns="0" rtlCol="0" anchor="t">
            <a:noAutofit/>
          </a:bodyPr>
          <a:lstStyle/>
          <a:p>
            <a:pPr marL="0" indent="0" algn="l">
              <a:lnSpc>
                <a:spcPct val="108000"/>
              </a:lnSpc>
              <a:buNone/>
            </a:pPr>
            <a:r>
              <a:rPr lang="en-US" sz="1400" kern="100" spc="13" dirty="0">
                <a:solidFill>
                  <a:srgbClr val="B7BCEB"/>
                </a:solidFill>
                <a:latin typeface="Azeret Mono" pitchFamily="34" charset="0"/>
                <a:ea typeface="Azeret Mono" pitchFamily="34" charset="-122"/>
                <a:cs typeface="Azeret Mono" pitchFamily="34" charset="-120"/>
              </a:rPr>
              <a:t>College → Mall → Library → Hospital → Railway Station</a:t>
            </a:r>
            <a:endParaRPr lang="en-US" sz="1400" dirty="0"/>
          </a:p>
        </p:txBody>
      </p:sp>
      <p:pic>
        <p:nvPicPr>
          <p:cNvPr id="12" name="Image 1" descr="preencoded.png"/>
          <p:cNvPicPr>
            <a:picLocks noChangeAspect="1"/>
          </p:cNvPicPr>
          <p:nvPr/>
        </p:nvPicPr>
        <p:blipFill>
          <a:blip r:embed="rId4"/>
          <a:stretch>
            <a:fillRect/>
          </a:stretch>
        </p:blipFill>
        <p:spPr>
          <a:xfrm>
            <a:off x="0" y="0"/>
            <a:ext cx="12191695" cy="59134"/>
          </a:xfrm>
          <a:prstGeom prst="rect">
            <a:avLst/>
          </a:prstGeom>
        </p:spPr>
      </p:pic>
      <p:sp>
        <p:nvSpPr>
          <p:cNvPr id="14" name="TextBox 13"/>
          <p:cNvSpPr txBox="1"/>
          <p:nvPr/>
        </p:nvSpPr>
        <p:spPr>
          <a:xfrm>
            <a:off x="3147632" y="2324625"/>
            <a:ext cx="847288" cy="931178"/>
          </a:xfrm>
          <a:prstGeom prst="rect">
            <a:avLst/>
          </a:prstGeom>
          <a:solidFill>
            <a:srgbClr val="262D92"/>
          </a:solidFill>
        </p:spPr>
        <p:txBody>
          <a:bodyPr wrap="square" rtlCol="0">
            <a:spAutoFit/>
          </a:bodyPr>
          <a:lstStyle/>
          <a:p>
            <a:endParaRPr lang="en-US" dirty="0"/>
          </a:p>
        </p:txBody>
      </p:sp>
      <p:sp>
        <p:nvSpPr>
          <p:cNvPr id="26" name="TextBox 25"/>
          <p:cNvSpPr txBox="1"/>
          <p:nvPr/>
        </p:nvSpPr>
        <p:spPr>
          <a:xfrm>
            <a:off x="2284761" y="1904777"/>
            <a:ext cx="663927" cy="419848"/>
          </a:xfrm>
          <a:prstGeom prst="rect">
            <a:avLst/>
          </a:prstGeom>
          <a:solidFill>
            <a:srgbClr val="262D92"/>
          </a:solidFill>
        </p:spPr>
        <p:txBody>
          <a:bodyPr wrap="square" rtlCol="0">
            <a:spAutoFit/>
          </a:bodyPr>
          <a:lstStyle/>
          <a:p>
            <a:endParaRPr lang="en-US" dirty="0"/>
          </a:p>
        </p:txBody>
      </p:sp>
      <p:sp>
        <p:nvSpPr>
          <p:cNvPr id="27" name="TextBox 26"/>
          <p:cNvSpPr txBox="1"/>
          <p:nvPr/>
        </p:nvSpPr>
        <p:spPr>
          <a:xfrm>
            <a:off x="2680880" y="2160593"/>
            <a:ext cx="663927" cy="419848"/>
          </a:xfrm>
          <a:prstGeom prst="rect">
            <a:avLst/>
          </a:prstGeom>
          <a:solidFill>
            <a:srgbClr val="262D92"/>
          </a:solidFill>
        </p:spPr>
        <p:txBody>
          <a:bodyPr wrap="square" rtlCol="0">
            <a:spAutoFit/>
          </a:bodyPr>
          <a:lstStyle/>
          <a:p>
            <a:endParaRPr lang="en-US" dirty="0"/>
          </a:p>
        </p:txBody>
      </p:sp>
      <p:cxnSp>
        <p:nvCxnSpPr>
          <p:cNvPr id="16" name="Straight Connector 15"/>
          <p:cNvCxnSpPr/>
          <p:nvPr/>
        </p:nvCxnSpPr>
        <p:spPr>
          <a:xfrm>
            <a:off x="2253829" y="1959271"/>
            <a:ext cx="1090978" cy="607667"/>
          </a:xfrm>
          <a:prstGeom prst="line">
            <a:avLst/>
          </a:prstGeom>
          <a:ln w="57150">
            <a:solidFill>
              <a:srgbClr val="5CC98B"/>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042696" y="2046864"/>
            <a:ext cx="663927" cy="419848"/>
          </a:xfrm>
          <a:prstGeom prst="rect">
            <a:avLst/>
          </a:prstGeom>
          <a:solidFill>
            <a:srgbClr val="262D92"/>
          </a:solidFill>
        </p:spPr>
        <p:txBody>
          <a:bodyPr wrap="square" rtlCol="0">
            <a:spAutoFit/>
          </a:bodyPr>
          <a:lstStyle/>
          <a:p>
            <a:endParaRPr lang="en-US" dirty="0"/>
          </a:p>
        </p:txBody>
      </p:sp>
      <p:cxnSp>
        <p:nvCxnSpPr>
          <p:cNvPr id="29" name="Straight Connector 28"/>
          <p:cNvCxnSpPr>
            <a:cxnSpLocks/>
          </p:cNvCxnSpPr>
          <p:nvPr/>
        </p:nvCxnSpPr>
        <p:spPr>
          <a:xfrm flipV="1">
            <a:off x="3778898" y="1959271"/>
            <a:ext cx="1093605" cy="676752"/>
          </a:xfrm>
          <a:prstGeom prst="line">
            <a:avLst/>
          </a:prstGeom>
          <a:ln w="76200">
            <a:solidFill>
              <a:srgbClr val="5CC98B"/>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264473" y="2656096"/>
            <a:ext cx="954589" cy="906949"/>
          </a:xfrm>
          <a:prstGeom prst="rect">
            <a:avLst/>
          </a:prstGeom>
          <a:solidFill>
            <a:srgbClr val="262D92"/>
          </a:solidFill>
        </p:spPr>
        <p:txBody>
          <a:bodyPr wrap="square" rtlCol="0">
            <a:spAutoFit/>
          </a:bodyPr>
          <a:lstStyle/>
          <a:p>
            <a:endParaRPr lang="en-US" dirty="0"/>
          </a:p>
        </p:txBody>
      </p:sp>
      <p:sp>
        <p:nvSpPr>
          <p:cNvPr id="35" name="TextBox 34"/>
          <p:cNvSpPr txBox="1"/>
          <p:nvPr/>
        </p:nvSpPr>
        <p:spPr>
          <a:xfrm>
            <a:off x="3994920" y="2902549"/>
            <a:ext cx="1155920" cy="906949"/>
          </a:xfrm>
          <a:prstGeom prst="rect">
            <a:avLst/>
          </a:prstGeom>
          <a:solidFill>
            <a:srgbClr val="262D92"/>
          </a:solidFill>
        </p:spPr>
        <p:txBody>
          <a:bodyPr wrap="square" rtlCol="0">
            <a:spAutoFit/>
          </a:bodyPr>
          <a:lstStyle/>
          <a:p>
            <a:endParaRPr lang="en-US" dirty="0"/>
          </a:p>
        </p:txBody>
      </p:sp>
      <p:sp>
        <p:nvSpPr>
          <p:cNvPr id="36" name="TextBox 35"/>
          <p:cNvSpPr txBox="1"/>
          <p:nvPr/>
        </p:nvSpPr>
        <p:spPr>
          <a:xfrm>
            <a:off x="5269902" y="1968689"/>
            <a:ext cx="1080564" cy="906949"/>
          </a:xfrm>
          <a:prstGeom prst="rect">
            <a:avLst/>
          </a:prstGeom>
          <a:solidFill>
            <a:srgbClr val="262D92"/>
          </a:solidFill>
        </p:spPr>
        <p:txBody>
          <a:bodyPr wrap="square" rtlCol="0">
            <a:spAutoFit/>
          </a:bodyPr>
          <a:lstStyle/>
          <a:p>
            <a:endParaRPr lang="en-US" dirty="0"/>
          </a:p>
        </p:txBody>
      </p:sp>
      <p:sp>
        <p:nvSpPr>
          <p:cNvPr id="37" name="TextBox 36"/>
          <p:cNvSpPr txBox="1"/>
          <p:nvPr/>
        </p:nvSpPr>
        <p:spPr>
          <a:xfrm>
            <a:off x="968999" y="2196086"/>
            <a:ext cx="644566" cy="452154"/>
          </a:xfrm>
          <a:prstGeom prst="rect">
            <a:avLst/>
          </a:prstGeom>
          <a:solidFill>
            <a:srgbClr val="262D92"/>
          </a:solidFill>
        </p:spPr>
        <p:txBody>
          <a:bodyPr wrap="square" rtlCol="0">
            <a:spAutoFit/>
          </a:bodyPr>
          <a:lstStyle/>
          <a:p>
            <a:endParaRPr lang="en-US" dirty="0"/>
          </a:p>
        </p:txBody>
      </p:sp>
      <p:sp>
        <p:nvSpPr>
          <p:cNvPr id="38" name="TextBox 37"/>
          <p:cNvSpPr txBox="1"/>
          <p:nvPr/>
        </p:nvSpPr>
        <p:spPr>
          <a:xfrm>
            <a:off x="1437498" y="1994960"/>
            <a:ext cx="401192" cy="283034"/>
          </a:xfrm>
          <a:prstGeom prst="rect">
            <a:avLst/>
          </a:prstGeom>
          <a:solidFill>
            <a:srgbClr val="262D92"/>
          </a:solidFill>
        </p:spPr>
        <p:txBody>
          <a:bodyPr wrap="square" rtlCol="0">
            <a:spAutoFit/>
          </a:bodyPr>
          <a:lstStyle/>
          <a:p>
            <a:endParaRPr lang="en-US" dirty="0"/>
          </a:p>
        </p:txBody>
      </p:sp>
      <p:sp>
        <p:nvSpPr>
          <p:cNvPr id="13" name="Oval 12"/>
          <p:cNvSpPr/>
          <p:nvPr/>
        </p:nvSpPr>
        <p:spPr>
          <a:xfrm>
            <a:off x="3266838" y="2497541"/>
            <a:ext cx="608876" cy="593989"/>
          </a:xfrm>
          <a:prstGeom prst="ellipse">
            <a:avLst/>
          </a:prstGeom>
          <a:solidFill>
            <a:srgbClr val="F39A4B"/>
          </a:solidFill>
          <a:ln w="38100">
            <a:solidFill>
              <a:srgbClr val="F4C4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5" name="TextBox 24"/>
          <p:cNvSpPr txBox="1"/>
          <p:nvPr/>
        </p:nvSpPr>
        <p:spPr>
          <a:xfrm>
            <a:off x="3764215" y="1898571"/>
            <a:ext cx="990018" cy="1091936"/>
          </a:xfrm>
          <a:prstGeom prst="rect">
            <a:avLst/>
          </a:prstGeom>
          <a:solidFill>
            <a:srgbClr val="262D92"/>
          </a:solidFill>
        </p:spPr>
        <p:txBody>
          <a:bodyPr wrap="square" rtlCol="0">
            <a:spAutoFit/>
          </a:bodyPr>
          <a:lstStyle/>
          <a:p>
            <a:endParaRPr lang="en-US" dirty="0"/>
          </a:p>
        </p:txBody>
      </p:sp>
      <p:sp>
        <p:nvSpPr>
          <p:cNvPr id="2" name="Shape 0"/>
          <p:cNvSpPr/>
          <p:nvPr/>
        </p:nvSpPr>
        <p:spPr>
          <a:xfrm>
            <a:off x="0" y="0"/>
            <a:ext cx="7528431" cy="6858000"/>
          </a:xfrm>
          <a:prstGeom prst="rect">
            <a:avLst/>
          </a:prstGeom>
          <a:solidFill>
            <a:srgbClr val="262D92"/>
          </a:solidFill>
          <a:ln/>
          <a:effectLst>
            <a:outerShdw blurRad="328930" dist="127" dir="16200000" algn="bl" rotWithShape="0">
              <a:srgbClr val="F4C45A">
                <a:alpha val="20000"/>
              </a:srgbClr>
            </a:outerShdw>
          </a:effectLst>
        </p:spPr>
      </p:sp>
      <p:sp>
        <p:nvSpPr>
          <p:cNvPr id="3" name="Text 1"/>
          <p:cNvSpPr/>
          <p:nvPr/>
        </p:nvSpPr>
        <p:spPr>
          <a:xfrm>
            <a:off x="253994" y="228600"/>
            <a:ext cx="7274438"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EEF0FF"/>
                </a:solidFill>
                <a:latin typeface="Azeret Mono Medium" pitchFamily="34" charset="0"/>
                <a:ea typeface="Azeret Mono Medium" pitchFamily="34" charset="-122"/>
                <a:cs typeface="Azeret Mono Medium" pitchFamily="34" charset="-120"/>
              </a:rPr>
              <a:t>STEP 5 · DESTINATION REACHED</a:t>
            </a:r>
            <a:endParaRPr lang="en-US" sz="1400" dirty="0"/>
          </a:p>
        </p:txBody>
      </p:sp>
      <p:pic>
        <p:nvPicPr>
          <p:cNvPr id="4" name="Image 0" descr="preencoded.png"/>
          <p:cNvPicPr>
            <a:picLocks noChangeAspect="1"/>
          </p:cNvPicPr>
          <p:nvPr/>
        </p:nvPicPr>
        <p:blipFill>
          <a:blip r:embed="rId3"/>
          <a:stretch>
            <a:fillRect/>
          </a:stretch>
        </p:blipFill>
        <p:spPr>
          <a:xfrm>
            <a:off x="253994" y="635595"/>
            <a:ext cx="7020444" cy="4102100"/>
          </a:xfrm>
          <a:prstGeom prst="rect">
            <a:avLst/>
          </a:prstGeom>
        </p:spPr>
      </p:pic>
      <p:sp>
        <p:nvSpPr>
          <p:cNvPr id="5" name="Text 2"/>
          <p:cNvSpPr/>
          <p:nvPr/>
        </p:nvSpPr>
        <p:spPr>
          <a:xfrm>
            <a:off x="852868" y="4883670"/>
            <a:ext cx="7274438"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EEF0FF"/>
                </a:solidFill>
                <a:latin typeface="Azeret Mono" pitchFamily="34" charset="0"/>
                <a:ea typeface="Azeret Mono" pitchFamily="34" charset="-122"/>
                <a:cs typeface="Azeret Mono" pitchFamily="34" charset="-120"/>
              </a:rPr>
              <a:t>2 + 1 + 5 + 2 + 3 = 13 km</a:t>
            </a:r>
            <a:endParaRPr lang="en-US" sz="1300" dirty="0"/>
          </a:p>
        </p:txBody>
      </p:sp>
      <p:sp>
        <p:nvSpPr>
          <p:cNvPr id="6" name="Text 3"/>
          <p:cNvSpPr/>
          <p:nvPr/>
        </p:nvSpPr>
        <p:spPr>
          <a:xfrm>
            <a:off x="8163316" y="432117"/>
            <a:ext cx="3240999" cy="740569"/>
          </a:xfrm>
          <a:prstGeom prst="rect">
            <a:avLst/>
          </a:prstGeom>
          <a:noFill/>
          <a:ln/>
        </p:spPr>
        <p:txBody>
          <a:bodyPr wrap="square" lIns="0" tIns="0" rIns="0" bIns="0" rtlCol="0" anchor="t">
            <a:normAutofit lnSpcReduction="10000"/>
          </a:bodyPr>
          <a:lstStyle/>
          <a:p>
            <a:pPr marL="0" indent="0" algn="l">
              <a:lnSpc>
                <a:spcPct val="90000"/>
              </a:lnSpc>
              <a:buNone/>
            </a:pPr>
            <a:r>
              <a:rPr lang="en-US" sz="2700" kern="100" spc="-27" dirty="0">
                <a:solidFill>
                  <a:srgbClr val="F4C45A"/>
                </a:solidFill>
                <a:latin typeface="Krona One" pitchFamily="34" charset="0"/>
                <a:ea typeface="Krona One" pitchFamily="34" charset="-122"/>
                <a:cs typeface="Krona One" pitchFamily="34" charset="-120"/>
              </a:rPr>
              <a:t>Step 5: Reach the Airport</a:t>
            </a:r>
            <a:endParaRPr lang="en-US" sz="2700" dirty="0"/>
          </a:p>
        </p:txBody>
      </p:sp>
      <p:sp>
        <p:nvSpPr>
          <p:cNvPr id="7" name="Text 4"/>
          <p:cNvSpPr/>
          <p:nvPr/>
        </p:nvSpPr>
        <p:spPr>
          <a:xfrm>
            <a:off x="8163316" y="1367187"/>
            <a:ext cx="3240999" cy="612973"/>
          </a:xfrm>
          <a:prstGeom prst="rect">
            <a:avLst/>
          </a:prstGeom>
          <a:noFill/>
          <a:ln/>
        </p:spPr>
        <p:txBody>
          <a:bodyPr wrap="square" lIns="0" tIns="0" rIns="0" bIns="0" rtlCol="0" anchor="t">
            <a:normAutofit/>
          </a:bodyPr>
          <a:lstStyle/>
          <a:p>
            <a:pPr marL="0" indent="0" algn="l">
              <a:lnSpc>
                <a:spcPct val="118000"/>
              </a:lnSpc>
              <a:buNone/>
            </a:pPr>
            <a:r>
              <a:rPr lang="en-US" sz="1700" dirty="0">
                <a:solidFill>
                  <a:srgbClr val="EEF0FF"/>
                </a:solidFill>
                <a:latin typeface="Lexend" pitchFamily="34" charset="0"/>
                <a:ea typeface="Lexend" pitchFamily="34" charset="-122"/>
                <a:cs typeface="Lexend" pitchFamily="34" charset="-120"/>
              </a:rPr>
              <a:t>Railway Station → Airport = 3 km.</a:t>
            </a:r>
            <a:endParaRPr lang="en-US" sz="1700" dirty="0"/>
          </a:p>
        </p:txBody>
      </p:sp>
      <p:sp>
        <p:nvSpPr>
          <p:cNvPr id="8" name="Text 5"/>
          <p:cNvSpPr/>
          <p:nvPr/>
        </p:nvSpPr>
        <p:spPr>
          <a:xfrm>
            <a:off x="8391910" y="2181619"/>
            <a:ext cx="3799785" cy="360660"/>
          </a:xfrm>
          <a:prstGeom prst="rect">
            <a:avLst/>
          </a:prstGeom>
          <a:noFill/>
          <a:ln/>
        </p:spPr>
        <p:txBody>
          <a:bodyPr wrap="none" lIns="0" tIns="0" rIns="0" bIns="0" rtlCol="0" anchor="t"/>
          <a:lstStyle/>
          <a:p>
            <a:pPr marL="0" indent="0" algn="l">
              <a:lnSpc>
                <a:spcPct val="118000"/>
              </a:lnSpc>
              <a:buNone/>
            </a:pPr>
            <a:r>
              <a:rPr lang="en-US" sz="2000" dirty="0">
                <a:solidFill>
                  <a:srgbClr val="F4C45A"/>
                </a:solidFill>
                <a:latin typeface="Lexend" pitchFamily="34" charset="0"/>
                <a:ea typeface="Lexend" pitchFamily="34" charset="-122"/>
                <a:cs typeface="Lexend" pitchFamily="34" charset="-120"/>
              </a:rPr>
              <a:t>10 + 3 = 13 km</a:t>
            </a:r>
            <a:endParaRPr lang="en-US" sz="2000" dirty="0"/>
          </a:p>
        </p:txBody>
      </p:sp>
      <p:sp>
        <p:nvSpPr>
          <p:cNvPr id="9" name="Text 6"/>
          <p:cNvSpPr/>
          <p:nvPr/>
        </p:nvSpPr>
        <p:spPr>
          <a:xfrm>
            <a:off x="8391910" y="2867609"/>
            <a:ext cx="2783810" cy="595809"/>
          </a:xfrm>
          <a:prstGeom prst="rect">
            <a:avLst/>
          </a:prstGeom>
          <a:noFill/>
          <a:ln/>
        </p:spPr>
        <p:txBody>
          <a:bodyPr wrap="none" lIns="0" tIns="0" rIns="0" bIns="0" rtlCol="0" anchor="t"/>
          <a:lstStyle/>
          <a:p>
            <a:pPr marL="0" indent="0" algn="l">
              <a:lnSpc>
                <a:spcPct val="85000"/>
              </a:lnSpc>
              <a:buNone/>
            </a:pPr>
            <a:r>
              <a:rPr lang="en-US" sz="4600" kern="100" spc="-46" dirty="0">
                <a:solidFill>
                  <a:srgbClr val="F4C45A"/>
                </a:solidFill>
                <a:latin typeface="Krona One" pitchFamily="34" charset="0"/>
                <a:ea typeface="Krona One" pitchFamily="34" charset="-122"/>
                <a:cs typeface="Krona One" pitchFamily="34" charset="-120"/>
              </a:rPr>
              <a:t>13 km</a:t>
            </a:r>
            <a:endParaRPr lang="en-US" sz="4600" dirty="0"/>
          </a:p>
        </p:txBody>
      </p:sp>
      <p:sp>
        <p:nvSpPr>
          <p:cNvPr id="10" name="Text 7"/>
          <p:cNvSpPr/>
          <p:nvPr/>
        </p:nvSpPr>
        <p:spPr>
          <a:xfrm>
            <a:off x="8403276" y="3572434"/>
            <a:ext cx="3012404"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F4C45A"/>
                </a:solidFill>
                <a:latin typeface="Azeret Mono Medium" pitchFamily="34" charset="0"/>
                <a:ea typeface="Azeret Mono Medium" pitchFamily="34" charset="-122"/>
                <a:cs typeface="Azeret Mono Medium" pitchFamily="34" charset="-120"/>
              </a:rPr>
              <a:t>SHORTEST DISTANCE</a:t>
            </a:r>
            <a:endParaRPr lang="en-US" sz="1400" dirty="0"/>
          </a:p>
        </p:txBody>
      </p:sp>
      <p:sp>
        <p:nvSpPr>
          <p:cNvPr id="11" name="Text 8"/>
          <p:cNvSpPr/>
          <p:nvPr/>
        </p:nvSpPr>
        <p:spPr>
          <a:xfrm>
            <a:off x="8163317" y="4102645"/>
            <a:ext cx="3428320" cy="1481336"/>
          </a:xfrm>
          <a:prstGeom prst="rect">
            <a:avLst/>
          </a:prstGeom>
          <a:noFill/>
          <a:ln/>
        </p:spPr>
        <p:txBody>
          <a:bodyPr wrap="square" lIns="0" tIns="0" rIns="0" bIns="0" rtlCol="0" anchor="t">
            <a:normAutofit/>
          </a:bodyPr>
          <a:lstStyle/>
          <a:p>
            <a:pPr marL="0" indent="0" algn="l">
              <a:lnSpc>
                <a:spcPct val="108000"/>
              </a:lnSpc>
              <a:spcAft>
                <a:spcPts val="1500"/>
              </a:spcAft>
              <a:buNone/>
            </a:pPr>
            <a:r>
              <a:rPr lang="en-US" sz="1300" kern="100" spc="13" dirty="0">
                <a:solidFill>
                  <a:srgbClr val="B7BCEB"/>
                </a:solidFill>
                <a:latin typeface="Azeret Mono" pitchFamily="34" charset="0"/>
                <a:ea typeface="Azeret Mono" pitchFamily="34" charset="-122"/>
                <a:cs typeface="Azeret Mono" pitchFamily="34" charset="-120"/>
              </a:rPr>
              <a:t>College → Mall → Library → Hospital → Railway Station → Airport</a:t>
            </a:r>
            <a:endParaRPr lang="en-US" sz="1300" dirty="0"/>
          </a:p>
          <a:p>
            <a:pPr marL="0" indent="0" algn="l">
              <a:lnSpc>
                <a:spcPct val="108000"/>
              </a:lnSpc>
              <a:buNone/>
            </a:pPr>
            <a:r>
              <a:rPr lang="en-US" sz="1300" kern="100" spc="13" dirty="0">
                <a:solidFill>
                  <a:srgbClr val="B7BCEB"/>
                </a:solidFill>
                <a:latin typeface="Azeret Mono" pitchFamily="34" charset="0"/>
                <a:ea typeface="Azeret Mono" pitchFamily="34" charset="-122"/>
                <a:cs typeface="Azeret Mono" pitchFamily="34" charset="-120"/>
              </a:rPr>
              <a:t>Other roads fade because they are not part of the final path.</a:t>
            </a:r>
            <a:endParaRPr lang="en-US" sz="1300" dirty="0"/>
          </a:p>
        </p:txBody>
      </p:sp>
      <p:pic>
        <p:nvPicPr>
          <p:cNvPr id="12" name="Image 1" descr="preencoded.png"/>
          <p:cNvPicPr>
            <a:picLocks noChangeAspect="1"/>
          </p:cNvPicPr>
          <p:nvPr/>
        </p:nvPicPr>
        <p:blipFill>
          <a:blip r:embed="rId4"/>
          <a:stretch>
            <a:fillRect/>
          </a:stretch>
        </p:blipFill>
        <p:spPr>
          <a:xfrm>
            <a:off x="0" y="0"/>
            <a:ext cx="12191695" cy="59134"/>
          </a:xfrm>
          <a:prstGeom prst="rect">
            <a:avLst/>
          </a:prstGeom>
        </p:spPr>
      </p:pic>
      <p:sp>
        <p:nvSpPr>
          <p:cNvPr id="26" name="TextBox 25"/>
          <p:cNvSpPr txBox="1"/>
          <p:nvPr/>
        </p:nvSpPr>
        <p:spPr>
          <a:xfrm>
            <a:off x="1062592" y="3127391"/>
            <a:ext cx="606817" cy="457511"/>
          </a:xfrm>
          <a:prstGeom prst="rect">
            <a:avLst/>
          </a:prstGeom>
          <a:solidFill>
            <a:srgbClr val="262D92"/>
          </a:solidFill>
        </p:spPr>
        <p:txBody>
          <a:bodyPr wrap="square" rtlCol="0">
            <a:spAutoFit/>
          </a:bodyPr>
          <a:lstStyle/>
          <a:p>
            <a:endParaRPr lang="en-US" dirty="0"/>
          </a:p>
        </p:txBody>
      </p:sp>
      <p:cxnSp>
        <p:nvCxnSpPr>
          <p:cNvPr id="18" name="Straight Connector 17"/>
          <p:cNvCxnSpPr/>
          <p:nvPr/>
        </p:nvCxnSpPr>
        <p:spPr>
          <a:xfrm>
            <a:off x="852868" y="2995471"/>
            <a:ext cx="816541" cy="607667"/>
          </a:xfrm>
          <a:prstGeom prst="line">
            <a:avLst/>
          </a:prstGeom>
          <a:ln w="63500">
            <a:solidFill>
              <a:srgbClr val="5CC98B"/>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350060" y="2180685"/>
            <a:ext cx="606817" cy="457511"/>
          </a:xfrm>
          <a:prstGeom prst="rect">
            <a:avLst/>
          </a:prstGeom>
          <a:solidFill>
            <a:srgbClr val="262D92"/>
          </a:solidFill>
        </p:spPr>
        <p:txBody>
          <a:bodyPr wrap="square" rtlCol="0">
            <a:spAutoFit/>
          </a:bodyPr>
          <a:lstStyle/>
          <a:p>
            <a:endParaRPr lang="en-US" dirty="0"/>
          </a:p>
        </p:txBody>
      </p:sp>
      <p:cxnSp>
        <p:nvCxnSpPr>
          <p:cNvPr id="13" name="Straight Connector 12"/>
          <p:cNvCxnSpPr/>
          <p:nvPr/>
        </p:nvCxnSpPr>
        <p:spPr>
          <a:xfrm>
            <a:off x="2077660" y="2100717"/>
            <a:ext cx="1112026" cy="627661"/>
          </a:xfrm>
          <a:prstGeom prst="line">
            <a:avLst/>
          </a:prstGeom>
          <a:ln w="69850">
            <a:solidFill>
              <a:srgbClr val="5CC98B"/>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921140" y="2224779"/>
            <a:ext cx="606817" cy="457511"/>
          </a:xfrm>
          <a:prstGeom prst="rect">
            <a:avLst/>
          </a:prstGeom>
          <a:solidFill>
            <a:srgbClr val="262D92"/>
          </a:solidFill>
        </p:spPr>
        <p:txBody>
          <a:bodyPr wrap="square" rtlCol="0">
            <a:spAutoFit/>
          </a:bodyPr>
          <a:lstStyle/>
          <a:p>
            <a:endParaRPr lang="en-US" dirty="0"/>
          </a:p>
        </p:txBody>
      </p:sp>
      <p:cxnSp>
        <p:nvCxnSpPr>
          <p:cNvPr id="22" name="Straight Connector 21"/>
          <p:cNvCxnSpPr/>
          <p:nvPr/>
        </p:nvCxnSpPr>
        <p:spPr>
          <a:xfrm flipV="1">
            <a:off x="3650596" y="2120711"/>
            <a:ext cx="1147907" cy="647656"/>
          </a:xfrm>
          <a:prstGeom prst="line">
            <a:avLst/>
          </a:prstGeom>
          <a:ln w="69850">
            <a:solidFill>
              <a:srgbClr val="5CC98B"/>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697632" y="2936364"/>
            <a:ext cx="606817" cy="457511"/>
          </a:xfrm>
          <a:prstGeom prst="rect">
            <a:avLst/>
          </a:prstGeom>
          <a:solidFill>
            <a:srgbClr val="262D92"/>
          </a:solidFill>
        </p:spPr>
        <p:txBody>
          <a:bodyPr wrap="square" rtlCol="0">
            <a:spAutoFit/>
          </a:bodyPr>
          <a:lstStyle/>
          <a:p>
            <a:endParaRPr lang="en-US" dirty="0"/>
          </a:p>
        </p:txBody>
      </p:sp>
      <p:sp>
        <p:nvSpPr>
          <p:cNvPr id="32" name="TextBox 31"/>
          <p:cNvSpPr txBox="1"/>
          <p:nvPr/>
        </p:nvSpPr>
        <p:spPr>
          <a:xfrm>
            <a:off x="4304449" y="3357024"/>
            <a:ext cx="997224" cy="595057"/>
          </a:xfrm>
          <a:prstGeom prst="rect">
            <a:avLst/>
          </a:prstGeom>
          <a:solidFill>
            <a:srgbClr val="262D92"/>
          </a:solidFill>
        </p:spPr>
        <p:txBody>
          <a:bodyPr wrap="square" rtlCol="0">
            <a:spAutoFit/>
          </a:bodyPr>
          <a:lstStyle/>
          <a:p>
            <a:endParaRPr lang="en-US" dirty="0"/>
          </a:p>
        </p:txBody>
      </p:sp>
      <p:sp>
        <p:nvSpPr>
          <p:cNvPr id="14" name="TextBox 13">
            <a:extLst>
              <a:ext uri="{FF2B5EF4-FFF2-40B4-BE49-F238E27FC236}">
                <a16:creationId xmlns:a16="http://schemas.microsoft.com/office/drawing/2014/main" id="{D1029619-FD44-7C4B-CFF1-C20B9CE260F6}"/>
              </a:ext>
            </a:extLst>
          </p:cNvPr>
          <p:cNvSpPr txBox="1"/>
          <p:nvPr/>
        </p:nvSpPr>
        <p:spPr>
          <a:xfrm>
            <a:off x="5566438" y="2224779"/>
            <a:ext cx="606817" cy="457511"/>
          </a:xfrm>
          <a:prstGeom prst="rect">
            <a:avLst/>
          </a:prstGeom>
          <a:solidFill>
            <a:srgbClr val="262D92"/>
          </a:solidFill>
        </p:spPr>
        <p:txBody>
          <a:bodyPr wrap="square" rtlCol="0">
            <a:spAutoFit/>
          </a:bodyPr>
          <a:lstStyle/>
          <a:p>
            <a:endParaRPr lang="en-US" dirty="0"/>
          </a:p>
        </p:txBody>
      </p:sp>
      <p:cxnSp>
        <p:nvCxnSpPr>
          <p:cNvPr id="20" name="Straight Connector 19"/>
          <p:cNvCxnSpPr/>
          <p:nvPr/>
        </p:nvCxnSpPr>
        <p:spPr>
          <a:xfrm>
            <a:off x="5215143" y="2100717"/>
            <a:ext cx="1303103" cy="661542"/>
          </a:xfrm>
          <a:prstGeom prst="line">
            <a:avLst/>
          </a:prstGeom>
          <a:ln w="69850">
            <a:solidFill>
              <a:srgbClr val="5CC98B"/>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58786" y="432117"/>
            <a:ext cx="6608994" cy="370284"/>
          </a:xfrm>
          <a:prstGeom prst="rect">
            <a:avLst/>
          </a:prstGeom>
          <a:noFill/>
          <a:ln/>
        </p:spPr>
        <p:txBody>
          <a:bodyPr wrap="none" lIns="0" tIns="0" rIns="0" bIns="0" rtlCol="0" anchor="t"/>
          <a:lstStyle/>
          <a:p>
            <a:pPr marL="0" indent="0" algn="l">
              <a:lnSpc>
                <a:spcPct val="90000"/>
              </a:lnSpc>
              <a:buNone/>
            </a:pPr>
            <a:r>
              <a:rPr lang="en-US" sz="2700" kern="100" spc="-27" dirty="0">
                <a:solidFill>
                  <a:srgbClr val="F4C45A"/>
                </a:solidFill>
                <a:latin typeface="Krona One" pitchFamily="34" charset="0"/>
                <a:ea typeface="Krona One" pitchFamily="34" charset="-122"/>
                <a:cs typeface="Krona One" pitchFamily="34" charset="-120"/>
              </a:rPr>
              <a:t>Dijkstra in 7 simple steps</a:t>
            </a:r>
            <a:endParaRPr lang="en-US" sz="2700" dirty="0"/>
          </a:p>
        </p:txBody>
      </p:sp>
      <p:sp>
        <p:nvSpPr>
          <p:cNvPr id="3" name="Text 1"/>
          <p:cNvSpPr/>
          <p:nvPr/>
        </p:nvSpPr>
        <p:spPr>
          <a:xfrm>
            <a:off x="558786" y="1097558"/>
            <a:ext cx="867646"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01</a:t>
            </a:r>
            <a:endParaRPr lang="en-US" sz="1700" dirty="0"/>
          </a:p>
        </p:txBody>
      </p:sp>
      <p:sp>
        <p:nvSpPr>
          <p:cNvPr id="4" name="Text 2"/>
          <p:cNvSpPr/>
          <p:nvPr/>
        </p:nvSpPr>
        <p:spPr>
          <a:xfrm>
            <a:off x="1032742" y="1028343"/>
            <a:ext cx="6135038" cy="346670"/>
          </a:xfrm>
          <a:prstGeom prst="rect">
            <a:avLst/>
          </a:prstGeom>
          <a:noFill/>
          <a:ln/>
        </p:spPr>
        <p:txBody>
          <a:bodyPr wrap="none" lIns="0" tIns="0" rIns="0" bIns="0" rtlCol="0" anchor="t"/>
          <a:lstStyle/>
          <a:p>
            <a:pPr marL="0" indent="0" algn="l">
              <a:lnSpc>
                <a:spcPct val="108000"/>
              </a:lnSpc>
              <a:buNone/>
            </a:pPr>
            <a:r>
              <a:rPr lang="en-US" sz="2100" dirty="0">
                <a:solidFill>
                  <a:srgbClr val="F4C45A"/>
                </a:solidFill>
                <a:latin typeface="Lexend" pitchFamily="34" charset="0"/>
                <a:ea typeface="Lexend" pitchFamily="34" charset="-122"/>
                <a:cs typeface="Lexend" pitchFamily="34" charset="-120"/>
              </a:rPr>
              <a:t>Start from source</a:t>
            </a:r>
            <a:endParaRPr lang="en-US" sz="2100" dirty="0"/>
          </a:p>
        </p:txBody>
      </p:sp>
      <p:sp>
        <p:nvSpPr>
          <p:cNvPr id="5" name="Text 3"/>
          <p:cNvSpPr/>
          <p:nvPr/>
        </p:nvSpPr>
        <p:spPr>
          <a:xfrm>
            <a:off x="558786" y="1946275"/>
            <a:ext cx="868936"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02</a:t>
            </a:r>
            <a:endParaRPr lang="en-US" sz="1700" dirty="0"/>
          </a:p>
        </p:txBody>
      </p:sp>
      <p:sp>
        <p:nvSpPr>
          <p:cNvPr id="6" name="Text 4"/>
          <p:cNvSpPr/>
          <p:nvPr/>
        </p:nvSpPr>
        <p:spPr>
          <a:xfrm>
            <a:off x="1034032" y="1877060"/>
            <a:ext cx="6133748" cy="346670"/>
          </a:xfrm>
          <a:prstGeom prst="rect">
            <a:avLst/>
          </a:prstGeom>
          <a:noFill/>
          <a:ln/>
        </p:spPr>
        <p:txBody>
          <a:bodyPr wrap="none" lIns="0" tIns="0" rIns="0" bIns="0" rtlCol="0" anchor="t"/>
          <a:lstStyle/>
          <a:p>
            <a:pPr marL="0" indent="0" algn="l">
              <a:lnSpc>
                <a:spcPct val="108000"/>
              </a:lnSpc>
              <a:buNone/>
            </a:pPr>
            <a:r>
              <a:rPr lang="en-US" sz="2100" dirty="0">
                <a:solidFill>
                  <a:srgbClr val="F4C45A"/>
                </a:solidFill>
                <a:latin typeface="Lexend" pitchFamily="34" charset="0"/>
                <a:ea typeface="Lexend" pitchFamily="34" charset="-122"/>
                <a:cs typeface="Lexend" pitchFamily="34" charset="-120"/>
              </a:rPr>
              <a:t>Set source = 0</a:t>
            </a:r>
            <a:endParaRPr lang="en-US" sz="2100" dirty="0"/>
          </a:p>
        </p:txBody>
      </p:sp>
      <p:sp>
        <p:nvSpPr>
          <p:cNvPr id="7" name="Text 5"/>
          <p:cNvSpPr/>
          <p:nvPr/>
        </p:nvSpPr>
        <p:spPr>
          <a:xfrm>
            <a:off x="558786" y="2795091"/>
            <a:ext cx="873897"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03</a:t>
            </a:r>
            <a:endParaRPr lang="en-US" sz="1700" dirty="0"/>
          </a:p>
        </p:txBody>
      </p:sp>
      <p:sp>
        <p:nvSpPr>
          <p:cNvPr id="8" name="Text 6"/>
          <p:cNvSpPr/>
          <p:nvPr/>
        </p:nvSpPr>
        <p:spPr>
          <a:xfrm>
            <a:off x="1038993" y="2725876"/>
            <a:ext cx="6128787" cy="346670"/>
          </a:xfrm>
          <a:prstGeom prst="rect">
            <a:avLst/>
          </a:prstGeom>
          <a:noFill/>
          <a:ln/>
        </p:spPr>
        <p:txBody>
          <a:bodyPr wrap="none" lIns="0" tIns="0" rIns="0" bIns="0" rtlCol="0" anchor="t"/>
          <a:lstStyle/>
          <a:p>
            <a:pPr marL="0" indent="0" algn="l">
              <a:lnSpc>
                <a:spcPct val="108000"/>
              </a:lnSpc>
              <a:buNone/>
            </a:pPr>
            <a:r>
              <a:rPr lang="en-US" sz="2100" dirty="0">
                <a:solidFill>
                  <a:srgbClr val="F4C45A"/>
                </a:solidFill>
                <a:latin typeface="Lexend" pitchFamily="34" charset="0"/>
                <a:ea typeface="Lexend" pitchFamily="34" charset="-122"/>
                <a:cs typeface="Lexend" pitchFamily="34" charset="-120"/>
              </a:rPr>
              <a:t>Set others = ∞</a:t>
            </a:r>
            <a:endParaRPr lang="en-US" sz="2100" dirty="0"/>
          </a:p>
        </p:txBody>
      </p:sp>
      <p:sp>
        <p:nvSpPr>
          <p:cNvPr id="9" name="Text 7"/>
          <p:cNvSpPr/>
          <p:nvPr/>
        </p:nvSpPr>
        <p:spPr>
          <a:xfrm>
            <a:off x="558786" y="3643908"/>
            <a:ext cx="890466"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04</a:t>
            </a:r>
            <a:endParaRPr lang="en-US" sz="1700" dirty="0"/>
          </a:p>
        </p:txBody>
      </p:sp>
      <p:sp>
        <p:nvSpPr>
          <p:cNvPr id="10" name="Text 8"/>
          <p:cNvSpPr/>
          <p:nvPr/>
        </p:nvSpPr>
        <p:spPr>
          <a:xfrm>
            <a:off x="1055562" y="3574693"/>
            <a:ext cx="6112218" cy="346670"/>
          </a:xfrm>
          <a:prstGeom prst="rect">
            <a:avLst/>
          </a:prstGeom>
          <a:noFill/>
          <a:ln/>
        </p:spPr>
        <p:txBody>
          <a:bodyPr wrap="none" lIns="0" tIns="0" rIns="0" bIns="0" rtlCol="0" anchor="t"/>
          <a:lstStyle/>
          <a:p>
            <a:pPr marL="0" indent="0" algn="l">
              <a:lnSpc>
                <a:spcPct val="108000"/>
              </a:lnSpc>
              <a:buNone/>
            </a:pPr>
            <a:r>
              <a:rPr lang="en-US" sz="2100" dirty="0">
                <a:solidFill>
                  <a:srgbClr val="F4C45A"/>
                </a:solidFill>
                <a:latin typeface="Lexend" pitchFamily="34" charset="0"/>
                <a:ea typeface="Lexend" pitchFamily="34" charset="-122"/>
                <a:cs typeface="Lexend" pitchFamily="34" charset="-120"/>
              </a:rPr>
              <a:t>Select minimum unvisited vertex</a:t>
            </a:r>
            <a:endParaRPr lang="en-US" sz="2100" dirty="0"/>
          </a:p>
        </p:txBody>
      </p:sp>
      <p:sp>
        <p:nvSpPr>
          <p:cNvPr id="11" name="Text 9"/>
          <p:cNvSpPr/>
          <p:nvPr/>
        </p:nvSpPr>
        <p:spPr>
          <a:xfrm>
            <a:off x="558786" y="4492724"/>
            <a:ext cx="877369"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05</a:t>
            </a:r>
            <a:endParaRPr lang="en-US" sz="1700" dirty="0"/>
          </a:p>
        </p:txBody>
      </p:sp>
      <p:sp>
        <p:nvSpPr>
          <p:cNvPr id="12" name="Text 10"/>
          <p:cNvSpPr/>
          <p:nvPr/>
        </p:nvSpPr>
        <p:spPr>
          <a:xfrm>
            <a:off x="1042465" y="4423509"/>
            <a:ext cx="6125315" cy="346670"/>
          </a:xfrm>
          <a:prstGeom prst="rect">
            <a:avLst/>
          </a:prstGeom>
          <a:noFill/>
          <a:ln/>
        </p:spPr>
        <p:txBody>
          <a:bodyPr wrap="none" lIns="0" tIns="0" rIns="0" bIns="0" rtlCol="0" anchor="t"/>
          <a:lstStyle/>
          <a:p>
            <a:pPr marL="0" indent="0" algn="l">
              <a:lnSpc>
                <a:spcPct val="108000"/>
              </a:lnSpc>
              <a:buNone/>
            </a:pPr>
            <a:r>
              <a:rPr lang="en-US" sz="2100" dirty="0">
                <a:solidFill>
                  <a:srgbClr val="F4C45A"/>
                </a:solidFill>
                <a:latin typeface="Lexend" pitchFamily="34" charset="0"/>
                <a:ea typeface="Lexend" pitchFamily="34" charset="-122"/>
                <a:cs typeface="Lexend" pitchFamily="34" charset="-120"/>
              </a:rPr>
              <a:t>Update neighbour distances</a:t>
            </a:r>
            <a:endParaRPr lang="en-US" sz="2100" dirty="0"/>
          </a:p>
        </p:txBody>
      </p:sp>
      <p:sp>
        <p:nvSpPr>
          <p:cNvPr id="13" name="Text 11"/>
          <p:cNvSpPr/>
          <p:nvPr/>
        </p:nvSpPr>
        <p:spPr>
          <a:xfrm>
            <a:off x="558786" y="5341541"/>
            <a:ext cx="874095"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06</a:t>
            </a:r>
            <a:endParaRPr lang="en-US" sz="1700" dirty="0"/>
          </a:p>
        </p:txBody>
      </p:sp>
      <p:sp>
        <p:nvSpPr>
          <p:cNvPr id="14" name="Text 12"/>
          <p:cNvSpPr/>
          <p:nvPr/>
        </p:nvSpPr>
        <p:spPr>
          <a:xfrm>
            <a:off x="1039191" y="5272326"/>
            <a:ext cx="6128589" cy="346670"/>
          </a:xfrm>
          <a:prstGeom prst="rect">
            <a:avLst/>
          </a:prstGeom>
          <a:noFill/>
          <a:ln/>
        </p:spPr>
        <p:txBody>
          <a:bodyPr wrap="none" lIns="0" tIns="0" rIns="0" bIns="0" rtlCol="0" anchor="t"/>
          <a:lstStyle/>
          <a:p>
            <a:pPr marL="0" indent="0" algn="l">
              <a:lnSpc>
                <a:spcPct val="108000"/>
              </a:lnSpc>
              <a:buNone/>
            </a:pPr>
            <a:r>
              <a:rPr lang="en-US" sz="2100" dirty="0">
                <a:solidFill>
                  <a:srgbClr val="F4C45A"/>
                </a:solidFill>
                <a:latin typeface="Lexend" pitchFamily="34" charset="0"/>
                <a:ea typeface="Lexend" pitchFamily="34" charset="-122"/>
                <a:cs typeface="Lexend" pitchFamily="34" charset="-120"/>
              </a:rPr>
              <a:t>Mark vertex as visited</a:t>
            </a:r>
            <a:endParaRPr lang="en-US" sz="2100" dirty="0"/>
          </a:p>
        </p:txBody>
      </p:sp>
      <p:sp>
        <p:nvSpPr>
          <p:cNvPr id="15" name="Text 13"/>
          <p:cNvSpPr/>
          <p:nvPr/>
        </p:nvSpPr>
        <p:spPr>
          <a:xfrm>
            <a:off x="558786" y="6190357"/>
            <a:ext cx="869135" cy="215900"/>
          </a:xfrm>
          <a:prstGeom prst="rect">
            <a:avLst/>
          </a:prstGeom>
          <a:noFill/>
          <a:ln/>
        </p:spPr>
        <p:txBody>
          <a:bodyPr wrap="none" lIns="0" tIns="0" rIns="0" bIns="0" rtlCol="0" anchor="t"/>
          <a:lstStyle/>
          <a:p>
            <a:pPr marL="0" indent="0" algn="l">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07</a:t>
            </a:r>
            <a:endParaRPr lang="en-US" sz="1700" dirty="0"/>
          </a:p>
        </p:txBody>
      </p:sp>
      <p:sp>
        <p:nvSpPr>
          <p:cNvPr id="16" name="Text 14"/>
          <p:cNvSpPr/>
          <p:nvPr/>
        </p:nvSpPr>
        <p:spPr>
          <a:xfrm>
            <a:off x="1034230" y="6121142"/>
            <a:ext cx="6133550" cy="346670"/>
          </a:xfrm>
          <a:prstGeom prst="rect">
            <a:avLst/>
          </a:prstGeom>
          <a:noFill/>
          <a:ln/>
        </p:spPr>
        <p:txBody>
          <a:bodyPr wrap="none" lIns="0" tIns="0" rIns="0" bIns="0" rtlCol="0" anchor="t"/>
          <a:lstStyle/>
          <a:p>
            <a:pPr marL="0" indent="0" algn="l">
              <a:lnSpc>
                <a:spcPct val="108000"/>
              </a:lnSpc>
              <a:buNone/>
            </a:pPr>
            <a:r>
              <a:rPr lang="en-US" sz="2100" dirty="0">
                <a:solidFill>
                  <a:srgbClr val="F4C45A"/>
                </a:solidFill>
                <a:latin typeface="Lexend" pitchFamily="34" charset="0"/>
                <a:ea typeface="Lexend" pitchFamily="34" charset="-122"/>
                <a:cs typeface="Lexend" pitchFamily="34" charset="-120"/>
              </a:rPr>
              <a:t>Repeat</a:t>
            </a:r>
            <a:endParaRPr lang="en-US" sz="2100" dirty="0"/>
          </a:p>
        </p:txBody>
      </p:sp>
      <p:sp>
        <p:nvSpPr>
          <p:cNvPr id="17" name="Shape 15"/>
          <p:cNvSpPr/>
          <p:nvPr/>
        </p:nvSpPr>
        <p:spPr>
          <a:xfrm>
            <a:off x="8031259" y="0"/>
            <a:ext cx="4160436" cy="6858000"/>
          </a:xfrm>
          <a:prstGeom prst="rect">
            <a:avLst/>
          </a:prstGeom>
          <a:solidFill>
            <a:srgbClr val="262D92"/>
          </a:solidFill>
          <a:ln/>
          <a:effectLst>
            <a:outerShdw blurRad="278130" dist="127" dir="16200000" algn="bl" rotWithShape="0">
              <a:srgbClr val="B7BCEB">
                <a:alpha val="20000"/>
              </a:srgbClr>
            </a:outerShdw>
          </a:effectLst>
        </p:spPr>
      </p:sp>
      <p:sp>
        <p:nvSpPr>
          <p:cNvPr id="18" name="Text 16"/>
          <p:cNvSpPr/>
          <p:nvPr/>
        </p:nvSpPr>
        <p:spPr>
          <a:xfrm>
            <a:off x="8285253" y="228600"/>
            <a:ext cx="3906442"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EEF0FF"/>
                </a:solidFill>
                <a:latin typeface="Azeret Mono Medium" pitchFamily="34" charset="0"/>
                <a:ea typeface="Azeret Mono Medium" pitchFamily="34" charset="-122"/>
                <a:cs typeface="Azeret Mono Medium" pitchFamily="34" charset="-120"/>
              </a:rPr>
              <a:t>THE GREEDY IDEA</a:t>
            </a:r>
            <a:endParaRPr lang="en-US" sz="1400" dirty="0"/>
          </a:p>
        </p:txBody>
      </p:sp>
      <p:sp>
        <p:nvSpPr>
          <p:cNvPr id="19" name="Text 17"/>
          <p:cNvSpPr/>
          <p:nvPr/>
        </p:nvSpPr>
        <p:spPr>
          <a:xfrm>
            <a:off x="8285253" y="640675"/>
            <a:ext cx="3652448" cy="721320"/>
          </a:xfrm>
          <a:prstGeom prst="rect">
            <a:avLst/>
          </a:prstGeom>
          <a:noFill/>
          <a:ln/>
        </p:spPr>
        <p:txBody>
          <a:bodyPr wrap="square" lIns="0" tIns="0" rIns="0" bIns="0" rtlCol="0" anchor="t">
            <a:normAutofit/>
          </a:bodyPr>
          <a:lstStyle/>
          <a:p>
            <a:pPr marL="0" indent="0" algn="l">
              <a:lnSpc>
                <a:spcPct val="118000"/>
              </a:lnSpc>
              <a:buNone/>
            </a:pPr>
            <a:r>
              <a:rPr lang="en-US" sz="2000" dirty="0">
                <a:solidFill>
                  <a:srgbClr val="EEF0FF"/>
                </a:solidFill>
                <a:latin typeface="Lexend" pitchFamily="34" charset="0"/>
                <a:ea typeface="Lexend" pitchFamily="34" charset="-122"/>
                <a:cs typeface="Lexend" pitchFamily="34" charset="-120"/>
              </a:rPr>
              <a:t>Always choose the smallest known distance.</a:t>
            </a:r>
            <a:endParaRPr lang="en-US" sz="2000" dirty="0"/>
          </a:p>
        </p:txBody>
      </p:sp>
      <p:sp>
        <p:nvSpPr>
          <p:cNvPr id="20" name="Shape 18"/>
          <p:cNvSpPr/>
          <p:nvPr/>
        </p:nvSpPr>
        <p:spPr>
          <a:xfrm>
            <a:off x="8285253" y="1602978"/>
            <a:ext cx="1205279" cy="31651"/>
          </a:xfrm>
          <a:prstGeom prst="roundRect">
            <a:avLst>
              <a:gd name="adj" fmla="val 49998"/>
            </a:avLst>
          </a:prstGeom>
          <a:solidFill>
            <a:srgbClr val="5B62C6"/>
          </a:solidFill>
          <a:ln/>
        </p:spPr>
      </p:sp>
      <p:sp>
        <p:nvSpPr>
          <p:cNvPr id="21" name="Text 19"/>
          <p:cNvSpPr/>
          <p:nvPr/>
        </p:nvSpPr>
        <p:spPr>
          <a:xfrm>
            <a:off x="8285253" y="1880791"/>
            <a:ext cx="3906442"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EEF0FF"/>
                </a:solidFill>
                <a:latin typeface="Azeret Mono Medium" pitchFamily="34" charset="0"/>
                <a:ea typeface="Azeret Mono Medium" pitchFamily="34" charset="-122"/>
                <a:cs typeface="Azeret Mono Medium" pitchFamily="34" charset="-120"/>
              </a:rPr>
              <a:t>LIMITATION</a:t>
            </a:r>
            <a:endParaRPr lang="en-US" sz="1400" dirty="0"/>
          </a:p>
        </p:txBody>
      </p:sp>
      <p:sp>
        <p:nvSpPr>
          <p:cNvPr id="22" name="Text 20"/>
          <p:cNvSpPr/>
          <p:nvPr/>
        </p:nvSpPr>
        <p:spPr>
          <a:xfrm>
            <a:off x="8285253" y="2292104"/>
            <a:ext cx="3652448" cy="612973"/>
          </a:xfrm>
          <a:prstGeom prst="rect">
            <a:avLst/>
          </a:prstGeom>
          <a:noFill/>
          <a:ln/>
        </p:spPr>
        <p:txBody>
          <a:bodyPr wrap="square" lIns="0" tIns="0" rIns="0" bIns="0" rtlCol="0" anchor="t">
            <a:normAutofit/>
          </a:bodyPr>
          <a:lstStyle/>
          <a:p>
            <a:pPr marL="0" indent="0" algn="l">
              <a:lnSpc>
                <a:spcPct val="118000"/>
              </a:lnSpc>
              <a:buNone/>
            </a:pPr>
            <a:r>
              <a:rPr lang="en-US" sz="1700" dirty="0">
                <a:solidFill>
                  <a:srgbClr val="EEF0FF"/>
                </a:solidFill>
                <a:latin typeface="Lexend" pitchFamily="34" charset="0"/>
                <a:ea typeface="Lexend" pitchFamily="34" charset="-122"/>
                <a:cs typeface="Lexend" pitchFamily="34" charset="-120"/>
              </a:rPr>
              <a:t>Negative edge weights need Bellman–Ford.</a:t>
            </a:r>
            <a:endParaRPr lang="en-US" sz="1700" dirty="0"/>
          </a:p>
        </p:txBody>
      </p:sp>
      <p:pic>
        <p:nvPicPr>
          <p:cNvPr id="23" name="Image 0" descr="preencoded.png"/>
          <p:cNvPicPr>
            <a:picLocks noChangeAspect="1"/>
          </p:cNvPicPr>
          <p:nvPr/>
        </p:nvPicPr>
        <p:blipFill>
          <a:blip r:embed="rId3"/>
          <a:stretch>
            <a:fillRect/>
          </a:stretch>
        </p:blipFill>
        <p:spPr>
          <a:xfrm>
            <a:off x="8285253" y="3094434"/>
            <a:ext cx="3652448" cy="1943100"/>
          </a:xfrm>
          <a:prstGeom prst="rect">
            <a:avLst/>
          </a:prstGeom>
        </p:spPr>
      </p:pic>
      <p:sp>
        <p:nvSpPr>
          <p:cNvPr id="24" name="Shape 21"/>
          <p:cNvSpPr/>
          <p:nvPr/>
        </p:nvSpPr>
        <p:spPr>
          <a:xfrm>
            <a:off x="558786" y="1606352"/>
            <a:ext cx="6608994" cy="12700"/>
          </a:xfrm>
          <a:prstGeom prst="rect">
            <a:avLst/>
          </a:prstGeom>
          <a:solidFill>
            <a:srgbClr val="B7BCEB"/>
          </a:solidFill>
          <a:ln/>
        </p:spPr>
      </p:sp>
      <p:sp>
        <p:nvSpPr>
          <p:cNvPr id="25" name="Shape 22"/>
          <p:cNvSpPr/>
          <p:nvPr/>
        </p:nvSpPr>
        <p:spPr>
          <a:xfrm>
            <a:off x="558786" y="2455168"/>
            <a:ext cx="6608994" cy="12700"/>
          </a:xfrm>
          <a:prstGeom prst="rect">
            <a:avLst/>
          </a:prstGeom>
          <a:solidFill>
            <a:srgbClr val="B7BCEB"/>
          </a:solidFill>
          <a:ln/>
        </p:spPr>
      </p:sp>
      <p:sp>
        <p:nvSpPr>
          <p:cNvPr id="26" name="Shape 23"/>
          <p:cNvSpPr/>
          <p:nvPr/>
        </p:nvSpPr>
        <p:spPr>
          <a:xfrm>
            <a:off x="558786" y="3303984"/>
            <a:ext cx="6608994" cy="12700"/>
          </a:xfrm>
          <a:prstGeom prst="rect">
            <a:avLst/>
          </a:prstGeom>
          <a:solidFill>
            <a:srgbClr val="B7BCEB"/>
          </a:solidFill>
          <a:ln/>
        </p:spPr>
      </p:sp>
      <p:sp>
        <p:nvSpPr>
          <p:cNvPr id="27" name="Shape 24"/>
          <p:cNvSpPr/>
          <p:nvPr/>
        </p:nvSpPr>
        <p:spPr>
          <a:xfrm>
            <a:off x="558786" y="4152801"/>
            <a:ext cx="6608994" cy="12700"/>
          </a:xfrm>
          <a:prstGeom prst="rect">
            <a:avLst/>
          </a:prstGeom>
          <a:solidFill>
            <a:srgbClr val="B7BCEB"/>
          </a:solidFill>
          <a:ln/>
        </p:spPr>
      </p:sp>
      <p:sp>
        <p:nvSpPr>
          <p:cNvPr id="28" name="Shape 25"/>
          <p:cNvSpPr/>
          <p:nvPr/>
        </p:nvSpPr>
        <p:spPr>
          <a:xfrm>
            <a:off x="558786" y="5001617"/>
            <a:ext cx="6608994" cy="12700"/>
          </a:xfrm>
          <a:prstGeom prst="rect">
            <a:avLst/>
          </a:prstGeom>
          <a:solidFill>
            <a:srgbClr val="B7BCEB"/>
          </a:solidFill>
          <a:ln/>
        </p:spPr>
      </p:sp>
      <p:sp>
        <p:nvSpPr>
          <p:cNvPr id="29" name="Shape 26"/>
          <p:cNvSpPr/>
          <p:nvPr/>
        </p:nvSpPr>
        <p:spPr>
          <a:xfrm>
            <a:off x="558786" y="5850434"/>
            <a:ext cx="6608994" cy="12700"/>
          </a:xfrm>
          <a:prstGeom prst="rect">
            <a:avLst/>
          </a:prstGeom>
          <a:solidFill>
            <a:srgbClr val="B7BCEB"/>
          </a:solidFill>
          <a:ln/>
        </p:spPr>
      </p:sp>
      <p:pic>
        <p:nvPicPr>
          <p:cNvPr id="30" name="Image 1" descr="preencoded.png"/>
          <p:cNvPicPr>
            <a:picLocks noChangeAspect="1"/>
          </p:cNvPicPr>
          <p:nvPr/>
        </p:nvPicPr>
        <p:blipFill>
          <a:blip r:embed="rId4"/>
          <a:stretch>
            <a:fillRect/>
          </a:stretch>
        </p:blipFill>
        <p:spPr>
          <a:xfrm>
            <a:off x="0" y="0"/>
            <a:ext cx="12191695" cy="5913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58785" y="394029"/>
            <a:ext cx="4815647" cy="1110853"/>
          </a:xfrm>
          <a:prstGeom prst="rect">
            <a:avLst/>
          </a:prstGeom>
          <a:noFill/>
          <a:ln/>
        </p:spPr>
        <p:txBody>
          <a:bodyPr wrap="square" lIns="0" tIns="0" rIns="0" bIns="0" rtlCol="0" anchor="t">
            <a:normAutofit/>
          </a:bodyPr>
          <a:lstStyle/>
          <a:p>
            <a:pPr marL="0" indent="0" algn="l">
              <a:lnSpc>
                <a:spcPct val="90000"/>
              </a:lnSpc>
              <a:buNone/>
            </a:pPr>
            <a:r>
              <a:rPr lang="en-US" sz="2700" kern="100" spc="-27" dirty="0">
                <a:solidFill>
                  <a:srgbClr val="F4C45A"/>
                </a:solidFill>
                <a:latin typeface="Krona One" pitchFamily="34" charset="0"/>
                <a:ea typeface="Krona One" pitchFamily="34" charset="-122"/>
                <a:cs typeface="Krona One" pitchFamily="34" charset="-120"/>
              </a:rPr>
              <a:t>Complexity + interactive challenge</a:t>
            </a:r>
            <a:endParaRPr lang="en-US" sz="2700" dirty="0"/>
          </a:p>
        </p:txBody>
      </p:sp>
      <p:sp>
        <p:nvSpPr>
          <p:cNvPr id="3" name="Text 1"/>
          <p:cNvSpPr/>
          <p:nvPr/>
        </p:nvSpPr>
        <p:spPr>
          <a:xfrm>
            <a:off x="787380" y="1910953"/>
            <a:ext cx="4002980"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F4C45A"/>
                </a:solidFill>
                <a:latin typeface="Azeret Mono Medium" pitchFamily="34" charset="0"/>
                <a:ea typeface="Azeret Mono Medium" pitchFamily="34" charset="-122"/>
                <a:cs typeface="Azeret Mono Medium" pitchFamily="34" charset="-120"/>
              </a:rPr>
              <a:t>COMPLEXITY</a:t>
            </a:r>
            <a:endParaRPr lang="en-US" sz="1400" dirty="0"/>
          </a:p>
        </p:txBody>
      </p:sp>
      <p:pic>
        <p:nvPicPr>
          <p:cNvPr id="4" name="Image 0" descr="preencoded.png"/>
          <p:cNvPicPr>
            <a:picLocks noChangeAspect="1"/>
          </p:cNvPicPr>
          <p:nvPr/>
        </p:nvPicPr>
        <p:blipFill>
          <a:blip r:embed="rId3"/>
          <a:stretch>
            <a:fillRect/>
          </a:stretch>
        </p:blipFill>
        <p:spPr>
          <a:xfrm>
            <a:off x="787380" y="2187258"/>
            <a:ext cx="3774385" cy="2159000"/>
          </a:xfrm>
          <a:prstGeom prst="rect">
            <a:avLst/>
          </a:prstGeom>
        </p:spPr>
      </p:pic>
      <p:sp>
        <p:nvSpPr>
          <p:cNvPr id="5" name="Text 2"/>
          <p:cNvSpPr/>
          <p:nvPr/>
        </p:nvSpPr>
        <p:spPr>
          <a:xfrm>
            <a:off x="787380" y="4563720"/>
            <a:ext cx="4204498" cy="429220"/>
          </a:xfrm>
          <a:prstGeom prst="rect">
            <a:avLst/>
          </a:prstGeom>
          <a:noFill/>
          <a:ln/>
        </p:spPr>
        <p:txBody>
          <a:bodyPr wrap="square" lIns="0" tIns="0" rIns="0" bIns="0" rtlCol="0" anchor="t">
            <a:normAutofit/>
          </a:bodyPr>
          <a:lstStyle/>
          <a:p>
            <a:pPr marL="0" indent="0" algn="l">
              <a:lnSpc>
                <a:spcPct val="108000"/>
              </a:lnSpc>
              <a:buNone/>
            </a:pPr>
            <a:r>
              <a:rPr lang="en-US" sz="1300" kern="100" spc="13" dirty="0">
                <a:solidFill>
                  <a:srgbClr val="B7BCEB"/>
                </a:solidFill>
                <a:latin typeface="Azeret Mono" pitchFamily="34" charset="0"/>
                <a:ea typeface="Azeret Mono" pitchFamily="34" charset="-122"/>
                <a:cs typeface="Azeret Mono" pitchFamily="34" charset="-120"/>
              </a:rPr>
              <a:t>Priority queue / min-heap is useful for larger sparse graphs.</a:t>
            </a:r>
            <a:endParaRPr lang="en-US" sz="1300" dirty="0"/>
          </a:p>
        </p:txBody>
      </p:sp>
      <p:sp>
        <p:nvSpPr>
          <p:cNvPr id="6" name="Shape 3"/>
          <p:cNvSpPr/>
          <p:nvPr/>
        </p:nvSpPr>
        <p:spPr>
          <a:xfrm>
            <a:off x="5653839" y="0"/>
            <a:ext cx="6537856" cy="5499894"/>
          </a:xfrm>
          <a:prstGeom prst="rect">
            <a:avLst/>
          </a:prstGeom>
          <a:solidFill>
            <a:srgbClr val="262D92"/>
          </a:solidFill>
          <a:ln/>
          <a:effectLst>
            <a:outerShdw blurRad="278130" dist="127" dir="16200000" algn="bl" rotWithShape="0">
              <a:srgbClr val="B7BCEB">
                <a:alpha val="20000"/>
              </a:srgbClr>
            </a:outerShdw>
          </a:effectLst>
        </p:spPr>
      </p:sp>
      <p:sp>
        <p:nvSpPr>
          <p:cNvPr id="7" name="Text 4"/>
          <p:cNvSpPr/>
          <p:nvPr/>
        </p:nvSpPr>
        <p:spPr>
          <a:xfrm>
            <a:off x="5882738" y="386842"/>
            <a:ext cx="6309262" cy="213320"/>
          </a:xfrm>
          <a:prstGeom prst="rect">
            <a:avLst/>
          </a:prstGeom>
          <a:noFill/>
          <a:ln/>
        </p:spPr>
        <p:txBody>
          <a:bodyPr wrap="none" lIns="0" tIns="0" rIns="0" bIns="0" rtlCol="0" anchor="t"/>
          <a:lstStyle/>
          <a:p>
            <a:pPr marL="0" indent="0" algn="l">
              <a:lnSpc>
                <a:spcPct val="100000"/>
              </a:lnSpc>
              <a:buNone/>
            </a:pPr>
            <a:r>
              <a:rPr lang="en-US" sz="1400" kern="100" spc="42" dirty="0">
                <a:solidFill>
                  <a:srgbClr val="EEF0FF"/>
                </a:solidFill>
                <a:latin typeface="Azeret Mono Medium" pitchFamily="34" charset="0"/>
                <a:ea typeface="Azeret Mono Medium" pitchFamily="34" charset="-122"/>
                <a:cs typeface="Azeret Mono Medium" pitchFamily="34" charset="-120"/>
              </a:rPr>
              <a:t>CHALLENGE · NEW GRAPH</a:t>
            </a:r>
            <a:endParaRPr lang="en-US" sz="1400" dirty="0"/>
          </a:p>
        </p:txBody>
      </p:sp>
      <p:pic>
        <p:nvPicPr>
          <p:cNvPr id="8" name="Image 1" descr="preencoded.png"/>
          <p:cNvPicPr>
            <a:picLocks noChangeAspect="1"/>
          </p:cNvPicPr>
          <p:nvPr/>
        </p:nvPicPr>
        <p:blipFill>
          <a:blip r:embed="rId4"/>
          <a:stretch>
            <a:fillRect/>
          </a:stretch>
        </p:blipFill>
        <p:spPr>
          <a:xfrm>
            <a:off x="5882433" y="610195"/>
            <a:ext cx="6080667" cy="2590800"/>
          </a:xfrm>
          <a:prstGeom prst="rect">
            <a:avLst/>
          </a:prstGeom>
        </p:spPr>
      </p:pic>
      <p:sp>
        <p:nvSpPr>
          <p:cNvPr id="9" name="Text 5"/>
          <p:cNvSpPr/>
          <p:nvPr/>
        </p:nvSpPr>
        <p:spPr>
          <a:xfrm>
            <a:off x="5882738" y="3705475"/>
            <a:ext cx="6309262" cy="306487"/>
          </a:xfrm>
          <a:prstGeom prst="rect">
            <a:avLst/>
          </a:prstGeom>
          <a:noFill/>
          <a:ln/>
        </p:spPr>
        <p:txBody>
          <a:bodyPr wrap="none" lIns="0" tIns="0" rIns="0" bIns="0" rtlCol="0" anchor="t"/>
          <a:lstStyle/>
          <a:p>
            <a:pPr marL="0" indent="0" algn="l">
              <a:lnSpc>
                <a:spcPct val="118000"/>
              </a:lnSpc>
              <a:buNone/>
            </a:pPr>
            <a:r>
              <a:rPr lang="en-US" sz="1700" dirty="0">
                <a:solidFill>
                  <a:srgbClr val="EEF0FF"/>
                </a:solidFill>
                <a:latin typeface="Lexend" pitchFamily="34" charset="0"/>
                <a:ea typeface="Lexend" pitchFamily="34" charset="-122"/>
                <a:cs typeface="Lexend" pitchFamily="34" charset="-120"/>
              </a:rPr>
              <a:t>What is the shortest path from A to E?</a:t>
            </a:r>
            <a:endParaRPr lang="en-US" sz="1700" dirty="0"/>
          </a:p>
        </p:txBody>
      </p:sp>
      <p:sp>
        <p:nvSpPr>
          <p:cNvPr id="10" name="Text 6"/>
          <p:cNvSpPr/>
          <p:nvPr/>
        </p:nvSpPr>
        <p:spPr>
          <a:xfrm>
            <a:off x="5882433" y="3894832"/>
            <a:ext cx="6309262" cy="213320"/>
          </a:xfrm>
          <a:prstGeom prst="rect">
            <a:avLst/>
          </a:prstGeom>
          <a:noFill/>
          <a:ln/>
        </p:spPr>
        <p:txBody>
          <a:bodyPr wrap="none" lIns="0" tIns="0" rIns="0" bIns="0" rtlCol="0" anchor="t"/>
          <a:lstStyle/>
          <a:p>
            <a:pPr marL="0" indent="0" algn="l">
              <a:lnSpc>
                <a:spcPct val="100000"/>
              </a:lnSpc>
              <a:buNone/>
            </a:pPr>
            <a:endParaRPr lang="en-US" sz="1400" dirty="0"/>
          </a:p>
        </p:txBody>
      </p:sp>
      <p:sp>
        <p:nvSpPr>
          <p:cNvPr id="11" name="Text 7"/>
          <p:cNvSpPr/>
          <p:nvPr/>
        </p:nvSpPr>
        <p:spPr>
          <a:xfrm>
            <a:off x="5975739" y="4251133"/>
            <a:ext cx="6309262" cy="306487"/>
          </a:xfrm>
          <a:prstGeom prst="rect">
            <a:avLst/>
          </a:prstGeom>
          <a:noFill/>
          <a:ln/>
        </p:spPr>
        <p:txBody>
          <a:bodyPr wrap="none" lIns="0" tIns="0" rIns="0" bIns="0" rtlCol="0" anchor="t"/>
          <a:lstStyle/>
          <a:p>
            <a:pPr marL="0" indent="0" algn="l">
              <a:lnSpc>
                <a:spcPct val="118000"/>
              </a:lnSpc>
              <a:buNone/>
            </a:pPr>
            <a:r>
              <a:rPr lang="en-US" sz="1700" dirty="0">
                <a:solidFill>
                  <a:srgbClr val="5CC98B"/>
                </a:solidFill>
                <a:latin typeface="Lexend" pitchFamily="34" charset="0"/>
                <a:ea typeface="Lexend" pitchFamily="34" charset="-122"/>
                <a:cs typeface="Lexend" pitchFamily="34" charset="-120"/>
              </a:rPr>
              <a:t>A → B → D → E = 8</a:t>
            </a:r>
            <a:endParaRPr lang="en-US" sz="1700" dirty="0"/>
          </a:p>
        </p:txBody>
      </p:sp>
      <p:sp>
        <p:nvSpPr>
          <p:cNvPr id="12" name="Shape 8"/>
          <p:cNvSpPr/>
          <p:nvPr/>
        </p:nvSpPr>
        <p:spPr>
          <a:xfrm>
            <a:off x="305" y="5674804"/>
            <a:ext cx="12191695" cy="1183195"/>
          </a:xfrm>
          <a:prstGeom prst="rect">
            <a:avLst/>
          </a:prstGeom>
          <a:solidFill>
            <a:srgbClr val="262D92"/>
          </a:solidFill>
          <a:ln/>
          <a:effectLst>
            <a:outerShdw blurRad="278130" dist="127" dir="16200000" algn="bl" rotWithShape="0">
              <a:srgbClr val="B7BCEB">
                <a:alpha val="20000"/>
              </a:srgbClr>
            </a:outerShdw>
          </a:effectLst>
        </p:spPr>
      </p:sp>
      <p:sp>
        <p:nvSpPr>
          <p:cNvPr id="13" name="Text 9"/>
          <p:cNvSpPr/>
          <p:nvPr/>
        </p:nvSpPr>
        <p:spPr>
          <a:xfrm>
            <a:off x="0" y="6068871"/>
            <a:ext cx="12191695" cy="360660"/>
          </a:xfrm>
          <a:prstGeom prst="rect">
            <a:avLst/>
          </a:prstGeom>
          <a:noFill/>
          <a:ln/>
        </p:spPr>
        <p:txBody>
          <a:bodyPr wrap="none" lIns="0" tIns="0" rIns="0" bIns="0" rtlCol="0" anchor="t"/>
          <a:lstStyle/>
          <a:p>
            <a:pPr marL="0" indent="0" algn="ctr">
              <a:lnSpc>
                <a:spcPct val="118000"/>
              </a:lnSpc>
              <a:buNone/>
            </a:pPr>
            <a:r>
              <a:rPr lang="en-US" sz="2000" dirty="0">
                <a:solidFill>
                  <a:srgbClr val="EEF0FF"/>
                </a:solidFill>
                <a:latin typeface="Lexend" pitchFamily="34" charset="0"/>
                <a:ea typeface="Lexend" pitchFamily="34" charset="-122"/>
                <a:cs typeface="Lexend" pitchFamily="34" charset="-120"/>
              </a:rPr>
              <a:t>“That’s exactly what Dijkstra’s Algorithm does — one smart choice at a time.”</a:t>
            </a:r>
            <a:endParaRPr lang="en-US" sz="2000" dirty="0"/>
          </a:p>
        </p:txBody>
      </p:sp>
      <p:pic>
        <p:nvPicPr>
          <p:cNvPr id="14" name="Image 2" descr="preencoded.png"/>
          <p:cNvPicPr>
            <a:picLocks noChangeAspect="1"/>
          </p:cNvPicPr>
          <p:nvPr/>
        </p:nvPicPr>
        <p:blipFill>
          <a:blip r:embed="rId5"/>
          <a:stretch>
            <a:fillRect/>
          </a:stretch>
        </p:blipFill>
        <p:spPr>
          <a:xfrm>
            <a:off x="0" y="0"/>
            <a:ext cx="12191695" cy="59134"/>
          </a:xfrm>
          <a:prstGeom prst="rect">
            <a:avLst/>
          </a:prstGeom>
        </p:spPr>
      </p:pic>
      <p:sp>
        <p:nvSpPr>
          <p:cNvPr id="15" name="TextBox 14">
            <a:extLst>
              <a:ext uri="{FF2B5EF4-FFF2-40B4-BE49-F238E27FC236}">
                <a16:creationId xmlns:a16="http://schemas.microsoft.com/office/drawing/2014/main" id="{B428BA1E-E933-FB1A-5271-50D1DD4853FA}"/>
              </a:ext>
            </a:extLst>
          </p:cNvPr>
          <p:cNvSpPr txBox="1"/>
          <p:nvPr/>
        </p:nvSpPr>
        <p:spPr>
          <a:xfrm>
            <a:off x="3965510" y="2612571"/>
            <a:ext cx="429208" cy="369332"/>
          </a:xfrm>
          <a:prstGeom prst="rect">
            <a:avLst/>
          </a:prstGeom>
          <a:solidFill>
            <a:srgbClr val="18196B"/>
          </a:solidFill>
        </p:spPr>
        <p:txBody>
          <a:bodyPr wrap="square" rtlCol="0">
            <a:spAutoFit/>
          </a:bodyPr>
          <a:lstStyle/>
          <a:p>
            <a:endParaRPr lang="en-IN" dirty="0"/>
          </a:p>
        </p:txBody>
      </p:sp>
      <mc:AlternateContent xmlns:mc="http://schemas.openxmlformats.org/markup-compatibility/2006">
        <mc:Choice xmlns:a14="http://schemas.microsoft.com/office/drawing/2010/main" Requires="a14">
          <p:sp>
            <p:nvSpPr>
              <p:cNvPr id="17" name="Rectangle: Rounded Corners 16">
                <a:extLst>
                  <a:ext uri="{FF2B5EF4-FFF2-40B4-BE49-F238E27FC236}">
                    <a16:creationId xmlns:a16="http://schemas.microsoft.com/office/drawing/2014/main" id="{56145710-FEA0-DFEA-8FBF-F1275AA95390}"/>
                  </a:ext>
                </a:extLst>
              </p:cNvPr>
              <p:cNvSpPr/>
              <p:nvPr/>
            </p:nvSpPr>
            <p:spPr>
              <a:xfrm>
                <a:off x="2220686" y="2612570"/>
                <a:ext cx="1632857" cy="214605"/>
              </a:xfrm>
              <a:prstGeom prst="roundRect">
                <a:avLst/>
              </a:prstGeom>
              <a:solidFill>
                <a:srgbClr val="F39A4B"/>
              </a:solidFill>
              <a:ln>
                <a:solidFill>
                  <a:srgbClr val="F39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IN" i="1" smtClean="0">
                              <a:latin typeface="Cambria Math" panose="02040503050406030204" pitchFamily="18" charset="0"/>
                            </a:rPr>
                          </m:ctrlPr>
                        </m:sSupPr>
                        <m:e>
                          <m:r>
                            <a:rPr lang="en-IN" b="0" i="1" smtClean="0">
                              <a:latin typeface="Cambria Math" panose="02040503050406030204" pitchFamily="18" charset="0"/>
                            </a:rPr>
                            <m:t>𝑂</m:t>
                          </m:r>
                          <m:r>
                            <a:rPr lang="en-IN" b="0" i="1" smtClean="0">
                              <a:latin typeface="Cambria Math" panose="02040503050406030204" pitchFamily="18" charset="0"/>
                            </a:rPr>
                            <m:t>(</m:t>
                          </m:r>
                          <m:r>
                            <a:rPr lang="en-IN" b="0" i="1" smtClean="0">
                              <a:latin typeface="Cambria Math" panose="02040503050406030204" pitchFamily="18" charset="0"/>
                            </a:rPr>
                            <m:t>𝑉</m:t>
                          </m:r>
                          <m:r>
                            <a:rPr lang="en-IN" b="0" i="1" smtClean="0">
                              <a:latin typeface="Cambria Math" panose="02040503050406030204" pitchFamily="18" charset="0"/>
                            </a:rPr>
                            <m:t>)</m:t>
                          </m:r>
                        </m:e>
                        <m:sup>
                          <m:r>
                            <a:rPr lang="en-IN" b="0" i="1" smtClean="0">
                              <a:latin typeface="Cambria Math" panose="02040503050406030204" pitchFamily="18" charset="0"/>
                            </a:rPr>
                            <m:t>2</m:t>
                          </m:r>
                        </m:sup>
                      </m:sSup>
                    </m:oMath>
                  </m:oMathPara>
                </a14:m>
                <a:endParaRPr lang="en-IN" dirty="0"/>
              </a:p>
            </p:txBody>
          </p:sp>
        </mc:Choice>
        <mc:Fallback>
          <p:sp>
            <p:nvSpPr>
              <p:cNvPr id="17" name="Rectangle: Rounded Corners 16">
                <a:extLst>
                  <a:ext uri="{FF2B5EF4-FFF2-40B4-BE49-F238E27FC236}">
                    <a16:creationId xmlns:a16="http://schemas.microsoft.com/office/drawing/2014/main" id="{56145710-FEA0-DFEA-8FBF-F1275AA95390}"/>
                  </a:ext>
                </a:extLst>
              </p:cNvPr>
              <p:cNvSpPr>
                <a:spLocks noRot="1" noChangeAspect="1" noMove="1" noResize="1" noEditPoints="1" noAdjustHandles="1" noChangeArrowheads="1" noChangeShapeType="1" noTextEdit="1"/>
              </p:cNvSpPr>
              <p:nvPr/>
            </p:nvSpPr>
            <p:spPr>
              <a:xfrm>
                <a:off x="2220686" y="2612570"/>
                <a:ext cx="1632857" cy="214605"/>
              </a:xfrm>
              <a:prstGeom prst="roundRect">
                <a:avLst/>
              </a:prstGeom>
              <a:blipFill>
                <a:blip r:embed="rId6"/>
                <a:stretch>
                  <a:fillRect t="-16216" b="-54054"/>
                </a:stretch>
              </a:blipFill>
              <a:ln>
                <a:solidFill>
                  <a:srgbClr val="F39A4B"/>
                </a:solidFill>
              </a:ln>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8" name="Rectangle: Rounded Corners 17">
                <a:extLst>
                  <a:ext uri="{FF2B5EF4-FFF2-40B4-BE49-F238E27FC236}">
                    <a16:creationId xmlns:a16="http://schemas.microsoft.com/office/drawing/2014/main" id="{BEBC107C-CAA7-2365-18A0-F17C9B5368AE}"/>
                  </a:ext>
                </a:extLst>
              </p:cNvPr>
              <p:cNvSpPr/>
              <p:nvPr/>
            </p:nvSpPr>
            <p:spPr>
              <a:xfrm>
                <a:off x="2220686" y="3110665"/>
                <a:ext cx="1922106" cy="222744"/>
              </a:xfrm>
              <a:prstGeom prst="roundRect">
                <a:avLst/>
              </a:prstGeom>
              <a:solidFill>
                <a:srgbClr val="5CC9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unc>
                        <m:funcPr>
                          <m:ctrlPr>
                            <a:rPr lang="en-IN" i="1" smtClean="0">
                              <a:latin typeface="Cambria Math" panose="02040503050406030204" pitchFamily="18" charset="0"/>
                            </a:rPr>
                          </m:ctrlPr>
                        </m:funcPr>
                        <m:fName>
                          <m:r>
                            <m:rPr>
                              <m:nor/>
                            </m:rPr>
                            <a:rPr lang="en-IN">
                              <a:latin typeface="Cambria Math" panose="02040503050406030204" pitchFamily="18" charset="0"/>
                              <a:ea typeface="Cambria Math" panose="02040503050406030204" pitchFamily="18" charset="0"/>
                            </a:rPr>
                            <m:t>O</m:t>
                          </m:r>
                          <m:r>
                            <m:rPr>
                              <m:nor/>
                            </m:rPr>
                            <a:rPr lang="en-IN">
                              <a:latin typeface="Cambria Math" panose="02040503050406030204" pitchFamily="18" charset="0"/>
                              <a:ea typeface="Cambria Math" panose="02040503050406030204" pitchFamily="18" charset="0"/>
                            </a:rPr>
                            <m:t>((</m:t>
                          </m:r>
                          <m:r>
                            <m:rPr>
                              <m:nor/>
                            </m:rPr>
                            <a:rPr lang="en-IN" i="1">
                              <a:latin typeface="Cambria Math" panose="02040503050406030204" pitchFamily="18" charset="0"/>
                              <a:ea typeface="Cambria Math" panose="02040503050406030204" pitchFamily="18" charset="0"/>
                            </a:rPr>
                            <m:t>V</m:t>
                          </m:r>
                          <m:r>
                            <m:rPr>
                              <m:nor/>
                            </m:rPr>
                            <a:rPr lang="en-IN" i="1">
                              <a:latin typeface="Cambria Math" panose="02040503050406030204" pitchFamily="18" charset="0"/>
                              <a:ea typeface="Cambria Math" panose="02040503050406030204" pitchFamily="18" charset="0"/>
                            </a:rPr>
                            <m:t> + </m:t>
                          </m:r>
                          <m:r>
                            <m:rPr>
                              <m:nor/>
                            </m:rPr>
                            <a:rPr lang="en-IN" i="1">
                              <a:latin typeface="Cambria Math" panose="02040503050406030204" pitchFamily="18" charset="0"/>
                              <a:ea typeface="Cambria Math" panose="02040503050406030204" pitchFamily="18" charset="0"/>
                            </a:rPr>
                            <m:t>E</m:t>
                          </m:r>
                          <m:r>
                            <m:rPr>
                              <m:nor/>
                            </m:rPr>
                            <a:rPr lang="en-IN" b="0" i="0" smtClean="0">
                              <a:latin typeface="Cambria Math" panose="02040503050406030204" pitchFamily="18" charset="0"/>
                              <a:ea typeface="Cambria Math" panose="02040503050406030204" pitchFamily="18" charset="0"/>
                            </a:rPr>
                            <m:t> </m:t>
                          </m:r>
                          <m:r>
                            <m:rPr>
                              <m:nor/>
                            </m:rPr>
                            <a:rPr lang="en-IN">
                              <a:latin typeface="Cambria Math" panose="02040503050406030204" pitchFamily="18" charset="0"/>
                              <a:ea typeface="Cambria Math" panose="02040503050406030204" pitchFamily="18" charset="0"/>
                            </a:rPr>
                            <m:t>)</m:t>
                          </m:r>
                          <m:r>
                            <m:rPr>
                              <m:sty m:val="p"/>
                            </m:rPr>
                            <a:rPr lang="en-IN" i="0" smtClean="0">
                              <a:latin typeface="Cambria Math" panose="02040503050406030204" pitchFamily="18" charset="0"/>
                            </a:rPr>
                            <m:t>log</m:t>
                          </m:r>
                        </m:fName>
                        <m:e>
                          <m:r>
                            <a:rPr lang="en-IN" b="0" i="1" smtClean="0">
                              <a:latin typeface="Cambria Math" panose="02040503050406030204" pitchFamily="18" charset="0"/>
                            </a:rPr>
                            <m:t>𝑉</m:t>
                          </m:r>
                        </m:e>
                      </m:func>
                    </m:oMath>
                  </m:oMathPara>
                </a14:m>
                <a:endParaRPr lang="en-IN" dirty="0"/>
              </a:p>
            </p:txBody>
          </p:sp>
        </mc:Choice>
        <mc:Fallback>
          <p:sp>
            <p:nvSpPr>
              <p:cNvPr id="18" name="Rectangle: Rounded Corners 17">
                <a:extLst>
                  <a:ext uri="{FF2B5EF4-FFF2-40B4-BE49-F238E27FC236}">
                    <a16:creationId xmlns:a16="http://schemas.microsoft.com/office/drawing/2014/main" id="{BEBC107C-CAA7-2365-18A0-F17C9B5368AE}"/>
                  </a:ext>
                </a:extLst>
              </p:cNvPr>
              <p:cNvSpPr>
                <a:spLocks noRot="1" noChangeAspect="1" noMove="1" noResize="1" noEditPoints="1" noAdjustHandles="1" noChangeArrowheads="1" noChangeShapeType="1" noTextEdit="1"/>
              </p:cNvSpPr>
              <p:nvPr/>
            </p:nvSpPr>
            <p:spPr>
              <a:xfrm>
                <a:off x="2220686" y="3110665"/>
                <a:ext cx="1922106" cy="222744"/>
              </a:xfrm>
              <a:prstGeom prst="roundRect">
                <a:avLst/>
              </a:prstGeom>
              <a:blipFill>
                <a:blip r:embed="rId7"/>
                <a:stretch>
                  <a:fillRect t="-13514" b="-54054"/>
                </a:stretch>
              </a:blipFill>
              <a:ln>
                <a:noFill/>
              </a:ln>
            </p:spPr>
            <p:txBody>
              <a:bodyPr/>
              <a:lstStyle/>
              <a:p>
                <a:r>
                  <a:rPr lang="en-IN">
                    <a:noFill/>
                  </a:rPr>
                  <a:t> </a:t>
                </a:r>
              </a:p>
            </p:txBody>
          </p:sp>
        </mc:Fallback>
      </mc:AlternateContent>
      <p:sp>
        <p:nvSpPr>
          <p:cNvPr id="19" name="Isosceles Triangle 18">
            <a:extLst>
              <a:ext uri="{FF2B5EF4-FFF2-40B4-BE49-F238E27FC236}">
                <a16:creationId xmlns:a16="http://schemas.microsoft.com/office/drawing/2014/main" id="{48BF2BFE-C334-9B33-AE24-2B6F4C29DB31}"/>
              </a:ext>
            </a:extLst>
          </p:cNvPr>
          <p:cNvSpPr/>
          <p:nvPr/>
        </p:nvSpPr>
        <p:spPr>
          <a:xfrm rot="17697512">
            <a:off x="8194074" y="1234628"/>
            <a:ext cx="216805" cy="595030"/>
          </a:xfrm>
          <a:prstGeom prst="triangle">
            <a:avLst>
              <a:gd name="adj" fmla="val 30297"/>
            </a:avLst>
          </a:prstGeom>
          <a:solidFill>
            <a:srgbClr val="262D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Isosceles Triangle 19">
            <a:extLst>
              <a:ext uri="{FF2B5EF4-FFF2-40B4-BE49-F238E27FC236}">
                <a16:creationId xmlns:a16="http://schemas.microsoft.com/office/drawing/2014/main" id="{E714F583-5877-D49A-7718-7904EA40D4E1}"/>
              </a:ext>
            </a:extLst>
          </p:cNvPr>
          <p:cNvSpPr/>
          <p:nvPr/>
        </p:nvSpPr>
        <p:spPr>
          <a:xfrm rot="5961070">
            <a:off x="9895354" y="1671454"/>
            <a:ext cx="216805" cy="595030"/>
          </a:xfrm>
          <a:prstGeom prst="triangle">
            <a:avLst>
              <a:gd name="adj" fmla="val 30297"/>
            </a:avLst>
          </a:prstGeom>
          <a:solidFill>
            <a:srgbClr val="262D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B9AB9BB7-802A-0196-08EC-1FFB4B7F42C1}"/>
              </a:ext>
            </a:extLst>
          </p:cNvPr>
          <p:cNvSpPr txBox="1"/>
          <p:nvPr/>
        </p:nvSpPr>
        <p:spPr>
          <a:xfrm>
            <a:off x="8066314" y="1659776"/>
            <a:ext cx="419877" cy="307777"/>
          </a:xfrm>
          <a:prstGeom prst="rect">
            <a:avLst/>
          </a:prstGeom>
          <a:noFill/>
        </p:spPr>
        <p:txBody>
          <a:bodyPr wrap="square" rtlCol="0">
            <a:spAutoFit/>
          </a:bodyPr>
          <a:lstStyle/>
          <a:p>
            <a:r>
              <a:rPr lang="en-IN" sz="1400" dirty="0">
                <a:solidFill>
                  <a:schemeClr val="bg1"/>
                </a:solidFill>
              </a:rPr>
              <a:t>1</a:t>
            </a:r>
          </a:p>
        </p:txBody>
      </p:sp>
      <p:sp>
        <p:nvSpPr>
          <p:cNvPr id="22" name="TextBox 21">
            <a:extLst>
              <a:ext uri="{FF2B5EF4-FFF2-40B4-BE49-F238E27FC236}">
                <a16:creationId xmlns:a16="http://schemas.microsoft.com/office/drawing/2014/main" id="{7EBFFB32-CCC6-732C-3AB0-2AD876C97E20}"/>
              </a:ext>
            </a:extLst>
          </p:cNvPr>
          <p:cNvSpPr txBox="1"/>
          <p:nvPr/>
        </p:nvSpPr>
        <p:spPr>
          <a:xfrm>
            <a:off x="9987875" y="2166774"/>
            <a:ext cx="327057" cy="307777"/>
          </a:xfrm>
          <a:prstGeom prst="rect">
            <a:avLst/>
          </a:prstGeom>
          <a:noFill/>
        </p:spPr>
        <p:txBody>
          <a:bodyPr wrap="square" rtlCol="0">
            <a:spAutoFit/>
          </a:bodyPr>
          <a:lstStyle/>
          <a:p>
            <a:r>
              <a:rPr lang="en-IN" sz="1400" dirty="0">
                <a:solidFill>
                  <a:schemeClr val="bg1"/>
                </a:solidFill>
                <a:latin typeface="Calisto MT" panose="02040603050505030304" pitchFamily="18" charset="0"/>
              </a:rP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1057</Words>
  <Application>Microsoft Office PowerPoint</Application>
  <PresentationFormat>Widescreen</PresentationFormat>
  <Paragraphs>172</Paragraphs>
  <Slides>10</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vt:i4>
      </vt:variant>
    </vt:vector>
  </HeadingPairs>
  <TitlesOfParts>
    <vt:vector size="22" baseType="lpstr">
      <vt:lpstr>Azeret Mono Medium</vt:lpstr>
      <vt:lpstr>Lexend SemiBold</vt:lpstr>
      <vt:lpstr>Azeret Mono</vt:lpstr>
      <vt:lpstr>Courier New</vt:lpstr>
      <vt:lpstr>Krona One</vt:lpstr>
      <vt:lpstr>Lexend</vt:lpstr>
      <vt:lpstr>Cambria Math</vt:lpstr>
      <vt:lpstr>Calisto MT</vt:lpstr>
      <vt:lpstr>Cascadia Code SemiLight</vt:lpstr>
      <vt:lpstr>Arial</vt:lpstr>
      <vt:lpstr>Bahnschrift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SIT NGP. LAB-1</dc:creator>
  <cp:lastModifiedBy>ANITA BUDDHE</cp:lastModifiedBy>
  <cp:revision>20</cp:revision>
  <dcterms:created xsi:type="dcterms:W3CDTF">2026-10-07T04:11:22Z</dcterms:created>
  <dcterms:modified xsi:type="dcterms:W3CDTF">2026-10-07T12:36:26Z</dcterms:modified>
</cp:coreProperties>
</file>